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87863" autoAdjust="0"/>
  </p:normalViewPr>
  <p:slideViewPr>
    <p:cSldViewPr snapToGrid="0" snapToObjects="1">
      <p:cViewPr varScale="1">
        <p:scale>
          <a:sx n="99" d="100"/>
          <a:sy n="99" d="100"/>
        </p:scale>
        <p:origin x="994" y="77"/>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9/24/2025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안녕하세요. 오늘 교육을 맡은 슬라이드 제작 전문가입니다. 이번 시간에는 마크다운(Markdown)을 이용해 효율적으로 프레젠테이션 자료를 만드는 방법을 알아보겠습니다. 기존의 파워포인트나 키노트와는 다른, 텍스트 중심의 새로운 슬라이드 제작 워크플로우를 배우게 될 것입니다. 마크다운의 간결함과 Pandoc, Marp와 같은 강력한 변환 도구를 결합하여, 내용에만 집중하면서도 전문가 수준의 결과물을 만드는 방법을 목표로 합니다.</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프레젠테이션을 만들 때 왜 마크다운을 사용해야 할까요? 가장 큰 장점은 </a:t>
            </a:r>
            <a:r>
              <a:rPr b="1"/>
              <a:t>단순함과 효율성</a:t>
            </a:r>
            <a:r>
              <a:t>입니다. 보시는 것처럼 마크다운은 LaTeX 같은 다른 마크업 언어에 비해 훨씬 간결합니다. 또한 일반 텍스트 파일이라 Git으로 버전을 관리하기 매우 편리하며, Pandoc이나 Marp 같은 도구를 사용하면 단 하나의 소스 파일로 HTML, PDF, 파워포인트 등 다양한 결과물을 만들 수 있습니다. 덕분에 디자인 고민 없이 내용에만 집중할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마크다운으로 슬라이드를 만들 때 기억해야 할 몇 가지 핵심 원칙이 있습니다. 첫째, 모든 슬라이드 내용은 단 하나의 마크다운 파일에 담습니다. 둘째, 슬라이드와 슬라이드 사이는 세 개의 대시(</a:t>
            </a:r>
            <a:r>
              <a:rPr>
                <a:latin typeface="Courier"/>
              </a:rPr>
              <a:t>---</a:t>
            </a:r>
            <a:r>
              <a:t>)로 구분합니다. 셋째, 일반적으로 </a:t>
            </a:r>
            <a:r>
              <a:rPr>
                <a:latin typeface="Courier"/>
              </a:rPr>
              <a:t>#</a:t>
            </a:r>
            <a:r>
              <a:t>을 사용한 최상위 제목이 슬라이드 제목이 됩니다. 마지막으로, 문서의 맨 앞에 YAML 형식의 ’Front Matter’를 추가하여 발표 전체의 제목, 작성자, 날짜, 테마 같은 정보를 설정할 수 있습니다. 이 예시처럼 구조가 매우 직관적입니다.</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슬라이드 제작에 필요한 최소한의 마크다운 문법입니다. 다행히 매우 간단합니다. </a:t>
            </a:r>
            <a:r>
              <a:rPr>
                <a:latin typeface="Courier"/>
              </a:rPr>
              <a:t>#</a:t>
            </a:r>
            <a:r>
              <a:t> 기호로 제목의 수준을 정하고, 별표나 숫자로 목록을 만듭니다. 별표 한두 개로 텍스트를 감싸서 기울이거나 굵게 만들 수 있고, 백틱(```)을 이용해 코드 블록을 만들면 가독성이 높아집니다. 보시는 표와 같이 몇 가지 기본 규칙만 익히면 누구나 구조적인 문서를 작성할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작성된 마크다운 파일을 실제 슬라이드로 변환해주는 여러 도구가 있습니다. </a:t>
            </a:r>
            <a:r>
              <a:rPr b="1"/>
              <a:t>Pandoc</a:t>
            </a:r>
            <a:r>
              <a:t>은 거의 모든 문서 형식을 지원하는 가장 강력하고 범용적인 도구입니다. </a:t>
            </a:r>
            <a:r>
              <a:rPr b="1"/>
              <a:t>Marp</a:t>
            </a:r>
            <a:r>
              <a:t>는 VS Code와 통합되어 실시간 미리보기를 제공해 초보자도 쉽게 사용할 수 있습니다. </a:t>
            </a:r>
            <a:r>
              <a:rPr b="1"/>
              <a:t>Reveal.js</a:t>
            </a:r>
            <a:r>
              <a:t>는 화려한 효과와 2D 슬라이드 같은 고급 기능을 제공하는 HTML 프레임워크입니다. 이 외에도 터미널에서 바로 발표할 수 있는 </a:t>
            </a:r>
            <a:r>
              <a:rPr b="1"/>
              <a:t>Lookatme</a:t>
            </a:r>
            <a:r>
              <a:t> 같은 도구도 있습니다. 각 도구의 특징을 비교해보고 자신에게 맞는 것을 선택하는 것이 중요합니다.</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이제 각 도구를 좀 더 자세히 살펴보겠습니다. Pandoc은 ’문서계의 스위스 군용 칼’이라 불릴 만큼 강력한 변환 도구입니다. 마크다운으로 작성된 파일을 HTML 슬라이드, LaTeX 기반의 고품질 PDF, 심지어 파워포인트 파일로도 변환할 수 있습니다. 내부적으로는 입력 문서를 ’추상 구문 트리(AST)’라는 중간 형태로 변환한 뒤, 원하는 출력 형식으로 다시 쓰는 모듈식 설계를 가집니다. 이를 통해 엄청난 유연성을 확보합니다.</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Pandoc 사용법은 간단합니다. 터미널에서 </a:t>
            </a:r>
            <a:r>
              <a:rPr>
                <a:latin typeface="Courier"/>
              </a:rPr>
              <a:t>pandoc</a:t>
            </a:r>
            <a:r>
              <a:t> 명령어를 사용합니다. 이 예시 코드처럼 </a:t>
            </a:r>
            <a:r>
              <a:rPr>
                <a:latin typeface="Courier"/>
              </a:rPr>
              <a:t>-t revealjs</a:t>
            </a:r>
            <a:r>
              <a:t>는 출력을 Reveal.js 형식으로, </a:t>
            </a:r>
            <a:r>
              <a:rPr>
                <a:latin typeface="Courier"/>
              </a:rPr>
              <a:t>-s</a:t>
            </a:r>
            <a:r>
              <a:t>는 웹 브라우저에서 바로 열 수 있는 완전한 HTML 파일을 만들라는 의미입니다. 출력 파일명을 </a:t>
            </a:r>
            <a:r>
              <a:rPr>
                <a:latin typeface="Courier"/>
              </a:rPr>
              <a:t>-o</a:t>
            </a:r>
            <a:r>
              <a:t> 옵션으로 지정하는데, 확장자를 </a:t>
            </a:r>
            <a:r>
              <a:rPr>
                <a:latin typeface="Courier"/>
              </a:rPr>
              <a:t>.pptx</a:t>
            </a:r>
            <a:r>
              <a:t>로 바꾸기만 하면 파워포인트 파일이 생성됩니다. </a:t>
            </a:r>
            <a:r>
              <a:rPr>
                <a:latin typeface="Courier"/>
              </a:rPr>
              <a:t>--self-contained</a:t>
            </a:r>
            <a:r>
              <a:t> 옵션을 추가하면 이미지나 스타일시트 같은 외부 파일 없이 단일 파일로 배포할 수 있어 매우 유용합니다.</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학술 발표나 공식 문서처럼 고품질의 PDF 슬라이드가 필요할 때 Pandoc은 LaTeX Beamer를 활용합니다. Beamer는 LaTeX 기반의 프레젠테이션 클래스로, 수식이나 참고 문헌 표현이 탁월합니다. 사용법은 간단히 </a:t>
            </a:r>
            <a:r>
              <a:rPr>
                <a:latin typeface="Courier"/>
              </a:rPr>
              <a:t>-t beamer</a:t>
            </a:r>
            <a:r>
              <a:t> 옵션을 주면 되지만, 시스템에 LaTeX 배포판이 설치되어 있어야 합니다. </a:t>
            </a:r>
            <a:r>
              <a:rPr>
                <a:latin typeface="Courier"/>
              </a:rPr>
              <a:t>-V</a:t>
            </a:r>
            <a:r>
              <a:t> 옵션으로 </a:t>
            </a:r>
            <a:r>
              <a:rPr>
                <a:latin typeface="Courier"/>
              </a:rPr>
              <a:t>theme</a:t>
            </a:r>
            <a:r>
              <a:t>, </a:t>
            </a:r>
            <a:r>
              <a:rPr>
                <a:latin typeface="Courier"/>
              </a:rPr>
              <a:t>colortheme</a:t>
            </a:r>
            <a:r>
              <a:t> 같은 변수를 설정해 슬라이드의 디자인을 손쉽게 변경할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Pandoc이 강력하지만 설정이 다소 복잡하게 느껴진다면 Marp가 훌륭한 대안입니다. Marp는 ’마크다운 프레젠테이션 생태계’라는 이름처럼, 슬라이드 제작에 필요한 모든 기능을 통합적으로 제공합니다. 특히 VS Code 확장 기능은 강력 추천하는데, 코드를 작성하는 동시에 실제 슬라이드 모습을 바로 옆에서 확인할 수 있어 생산성이 극대화됩니다. 작성 완료 후에는 클릭 한 번으로 PDF나 PPT 파일로 내보낼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Marp 사용법은 매우 직관적입니다. 문서 최상단에 </a:t>
            </a:r>
            <a:r>
              <a:rPr>
                <a:latin typeface="Courier"/>
              </a:rPr>
              <a:t>---</a:t>
            </a:r>
            <a:r>
              <a:t>로 감싼 영역을 만들고, 그 안에 </a:t>
            </a:r>
            <a:r>
              <a:rPr>
                <a:latin typeface="Courier"/>
              </a:rPr>
              <a:t>marp: true</a:t>
            </a:r>
            <a:r>
              <a:t>라고 적어주기만 하면 됩니다. 그러면 VS Code의 미리보기 엔진이 Marp 모드로 전환됩니다. 그 후로는 표준 마크다운 문법을 사용해 내용을 채우고, 슬라이드를 나눌 때 </a:t>
            </a:r>
            <a:r>
              <a:rPr>
                <a:latin typeface="Courier"/>
              </a:rPr>
              <a:t>---</a:t>
            </a:r>
            <a:r>
              <a:t>를 사용하면 됩니다. </a:t>
            </a:r>
            <a:r>
              <a:rPr>
                <a:latin typeface="Courier"/>
              </a:rPr>
              <a:t>theme</a:t>
            </a:r>
            <a:r>
              <a:t> 속성을 추가해 내장된 </a:t>
            </a:r>
            <a:r>
              <a:rPr>
                <a:latin typeface="Courier"/>
              </a:rPr>
              <a:t>gaia</a:t>
            </a:r>
            <a:r>
              <a:t>나 </a:t>
            </a:r>
            <a:r>
              <a:rPr>
                <a:latin typeface="Courier"/>
              </a:rPr>
              <a:t>uncover</a:t>
            </a:r>
            <a:r>
              <a:t> 테마를 적용할 수도 있습니다.</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Marp는 디자인 커스터마이징이 매우 유연합니다. 기본 제공되는 3가지 테마만으로도 훌륭하지만, 더 나아가 </a:t>
            </a:r>
            <a:r>
              <a:rPr>
                <a:latin typeface="Courier"/>
              </a:rPr>
              <a:t>class: invert</a:t>
            </a:r>
            <a:r>
              <a:t>를 추가해 쉽게 다크 모드로 전환할 수 있습니다. 더 세밀한 조정을 원한다면, CSS 파일을 직접 만들어 </a:t>
            </a:r>
            <a:r>
              <a:rPr>
                <a:latin typeface="Courier"/>
              </a:rPr>
              <a:t>theme</a:t>
            </a:r>
            <a:r>
              <a:t>로 지정하거나, 슬라이드 내에 </a:t>
            </a:r>
            <a:r>
              <a:rPr>
                <a:latin typeface="Courier"/>
              </a:rPr>
              <a:t>&lt;style&gt;</a:t>
            </a:r>
            <a:r>
              <a:t> 태그를 직접 삽입해 특정 부분만 바꿀 수도 있습니다. 표에 보이는 것처럼 Front Matter에 다양한 지시자를 추가해 페이지 번호나 배경색 등을 전역으로 설정할 수도 있습니다.</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전체 슬라이드가 아닌 특정 슬라이드만 다르게 꾸미고 싶을 때도 있습니다. Marp는 이를 위해 주석 형태의 ’지역 지시자’를 제공합니다. 예를 들어, </a:t>
            </a:r>
            <a:r>
              <a:rPr>
                <a:latin typeface="Courier"/>
              </a:rPr>
              <a:t>&lt;!-- _class: lead --&gt;</a:t>
            </a:r>
            <a:r>
              <a:t>라고 적으면 현재 슬라이드에만 </a:t>
            </a:r>
            <a:r>
              <a:rPr>
                <a:latin typeface="Courier"/>
              </a:rPr>
              <a:t>lead</a:t>
            </a:r>
            <a:r>
              <a:t> 스타일(보통 텍스트를 크게 중앙 정렬)이 적용됩니다. </a:t>
            </a:r>
            <a:r>
              <a:rPr>
                <a:latin typeface="Courier"/>
              </a:rPr>
              <a:t>_</a:t>
            </a:r>
            <a:r>
              <a:t>가 빠진 </a:t>
            </a:r>
            <a:r>
              <a:rPr>
                <a:latin typeface="Courier"/>
              </a:rPr>
              <a:t>&lt;!-- class: invert --&gt;</a:t>
            </a:r>
            <a:r>
              <a:t>는 그 지점부터 끝까지 스타일을 변경합니다. 또한, </a:t>
            </a:r>
            <a:r>
              <a:rPr>
                <a:latin typeface="Courier"/>
              </a:rPr>
              <a:t>![bg]</a:t>
            </a:r>
            <a:r>
              <a:t> 태그에 </a:t>
            </a:r>
            <a:r>
              <a:rPr>
                <a:latin typeface="Courier"/>
              </a:rPr>
              <a:t>left:40%</a:t>
            </a:r>
            <a:r>
              <a:t> 같은 옵션을 추가하여 슬라이드마다 배경 이미지를 다르게 설정할 수도 있습니다.</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프레젠테이션에서 이미지는 매우 중요합니다. 일반적인 이미지는 표준 마크다운 문법으로 넣으면 됩니다. 슬라이드 배경을 이미지로 채우고 싶을 때는 Marp의 강력한 </a:t>
            </a:r>
            <a:r>
              <a:rPr>
                <a:latin typeface="Courier"/>
              </a:rPr>
              <a:t>![bg]</a:t>
            </a:r>
            <a:r>
              <a:t> 태그를 사용하세요. 이 태그는 단순히 이미지를 채우는 것을 넘어, </a:t>
            </a:r>
            <a:r>
              <a:rPr>
                <a:latin typeface="Courier"/>
              </a:rPr>
              <a:t>left</a:t>
            </a:r>
            <a:r>
              <a:t>, </a:t>
            </a:r>
            <a:r>
              <a:rPr>
                <a:latin typeface="Courier"/>
              </a:rPr>
              <a:t>right</a:t>
            </a:r>
            <a:r>
              <a:t> 키워드로 위치를 지정하거나, </a:t>
            </a:r>
            <a:r>
              <a:rPr>
                <a:latin typeface="Courier"/>
              </a:rPr>
              <a:t>left:35%</a:t>
            </a:r>
            <a:r>
              <a:t>처럼 크기를 비율로 조절할 수도 있습니다. </a:t>
            </a:r>
            <a:r>
              <a:rPr>
                <a:latin typeface="Courier"/>
              </a:rPr>
              <a:t>blur</a:t>
            </a:r>
            <a:r>
              <a:t>나 </a:t>
            </a:r>
            <a:r>
              <a:rPr>
                <a:latin typeface="Courier"/>
              </a:rPr>
              <a:t>opacity</a:t>
            </a:r>
            <a:r>
              <a:t> 같은 필터를 적용해 텍스트 가독성을 높이는 것도 좋은 방법입니다.</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복잡한 프로세스나 관계를 설명할 때 다이어그램은 필수적입니다. Mermaid는 텍스트로 다이어그램을 그릴 수 있게 해주는 도구로, Marp와 완벽하게 통합됩니다. 예시처럼 </a:t>
            </a:r>
            <a:r>
              <a:rPr>
                <a:latin typeface="Courier"/>
              </a:rPr>
              <a:t>graph TD</a:t>
            </a:r>
            <a:r>
              <a:t> 같은 간단한 코드를 작성하면, Marp가 이를 자동으로 멋진 순서도로 변환해줍니다. 개발 프로세스, 시스템 구성도, 데이터 흐름 등을 설명할 때 파워포인트에서 도형을 그리는 것보다 훨씬 빠르고 효율적입니다.</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최고 수준의 기능과 유연성을 원한다면 Reveal.js가 정답입니다. Reveal.js는 HTML 기반 프레임워크로, 웹에서 구현할 수 있는 거의 모든 동적 효과를 슬라이드에 담을 수 있습니다. 가장 큰 특징은 보시는 것처럼 상하좌우로 이동하는 2차원 슬라이드 구조입니다. 대주제는 수평으로, 소주제는 수직으로 구성하여 발표의 흐름을 입체적으로 만들 수 있습니다. Pandoc을 이용하면 마크다운으로 작성한 내용을 손쉽게 Reveal.js 슬라이드로 변환할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Reveal.js를 직접 HTML로 작성하는 것은 복잡할 수 있지만, Pandoc을 사용하면 매우 간단해집니다. </a:t>
            </a:r>
            <a:r>
              <a:rPr>
                <a:latin typeface="Courier"/>
              </a:rPr>
              <a:t>pandoc -t revealjs</a:t>
            </a:r>
            <a:r>
              <a:t>라는 명령어 하나면 마크다운 문서가 Reveal.js 슬라이드로 변환됩니다. 표에서 보시는 것처럼 </a:t>
            </a:r>
            <a:r>
              <a:rPr>
                <a:latin typeface="Courier"/>
              </a:rPr>
              <a:t>-V</a:t>
            </a:r>
            <a:r>
              <a:t> 옵션을 사용해 </a:t>
            </a:r>
            <a:r>
              <a:rPr>
                <a:latin typeface="Courier"/>
              </a:rPr>
              <a:t>theme</a:t>
            </a:r>
            <a:r>
              <a:t>이나 </a:t>
            </a:r>
            <a:r>
              <a:rPr>
                <a:latin typeface="Courier"/>
              </a:rPr>
              <a:t>transition</a:t>
            </a:r>
            <a:r>
              <a:t> 같은 Reveal.js의 다양한 설정을 변수 형태로 전달할 수 있습니다. 예를 들어, </a:t>
            </a:r>
            <a:r>
              <a:rPr>
                <a:latin typeface="Courier"/>
              </a:rPr>
              <a:t>theme</a:t>
            </a:r>
            <a:r>
              <a:t>을 ’sky’로, </a:t>
            </a:r>
            <a:r>
              <a:rPr>
                <a:latin typeface="Courier"/>
              </a:rPr>
              <a:t>transition</a:t>
            </a:r>
            <a:r>
              <a:t>을 ’zoom’으로 설정하여 발표 자료에 개성을 더할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발표자 노트는 성공적인 프레젠테이션을 위한 핵심 기능입니다. 청중에게는 슬라이드만 보이지만, 발표자는 별도의 화면에서 자신만의 대본을 볼 수 있습니다. 오늘 배운 Pandoc, Marp, Reveal.js 모두 발표자 노트를 지원하며, 표에서 보시는 것처럼 문법은 조금씩 다릅니다. Pandoc의 경우 제가 지금 사용하고 있는 것처럼 </a:t>
            </a:r>
            <a:r>
              <a:rPr>
                <a:latin typeface="Courier"/>
              </a:rPr>
              <a:t>::: notes</a:t>
            </a:r>
            <a:r>
              <a:t> 블록을 사용합니다. 이 기능을 활용하면 키워드를 잊지 않고 발표의 흐름을 자연스럽게 이어갈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슬라이드에 두 개 이상의 콘텐츠를 나란히 배치하고 싶을 때가 있습니다. Pandoc은 이를 위해 ’Fenced Divs’라는 특별한 문법을 제공합니다. 예시 코드처럼 </a:t>
            </a:r>
            <a:r>
              <a:rPr>
                <a:latin typeface="Courier"/>
              </a:rPr>
              <a:t>.columns</a:t>
            </a:r>
            <a:r>
              <a:t> 클래스를 가진 부모 Div 안에 </a:t>
            </a:r>
            <a:r>
              <a:rPr>
                <a:latin typeface="Courier"/>
              </a:rPr>
              <a:t>.column</a:t>
            </a:r>
            <a:r>
              <a:t> 클래스를 가진 자식 Div들을 넣으면 됩니다. 각 </a:t>
            </a:r>
            <a:r>
              <a:rPr>
                <a:latin typeface="Courier"/>
              </a:rPr>
              <a:t>.column</a:t>
            </a:r>
            <a:r>
              <a:t>에는 </a:t>
            </a:r>
            <a:r>
              <a:rPr>
                <a:latin typeface="Courier"/>
              </a:rPr>
              <a:t>width</a:t>
            </a:r>
            <a:r>
              <a:t> 속성을 부여하여 너비 비율을 자유롭게 조절할 수 있습니다. 이를 통해 텍스트와 이미지를 나란히 두거나 두 개의 코드를 비교하는 등 다양한 레이아웃을 구현할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효율적인 실무 워크플로우를 제안합니다. 먼저, 파워포인트를 열지 말고 마크다운으로 내용의 뼈대부터 잡으세요. 내용이 완성되면, 발표의 성격에 따라 Marp의 간편함을 택할지, Pandoc의 강력함을 택할지 결정합니다. 그 다음, 기본 설정으로 한 번 변환해 전체 구조를 확인하고, 마지막으로 테마를 적용하거나 CSS를 살짝 수정해 디자인을 다듬습니다. 이 과정을 통해 디자인이 아닌 ‘내용’ 중심의 생산적인 슬라이드 제작이 가능해집니다.</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이상으로 준비한 내용을 모두 마쳤습니다. 마크다운을 이용한 프레젠테이션 제작은 처음에는 낯설 수 있지만, 익숙해지면 기존 방식보다 훨씬 빠르고 효율적이라는 것을 느끼실 수 있을 겁니다. 오늘 배운 내용을 바탕으로 직접 슬라이드를 만들어보시길 권장합니다. 더 궁금한 점이 있다면 편하게 질문해주시고, 제공해드리는 참고 자료 링크를 통해 더 깊이 학습해보시기 바랍니다. 경청해주셔서 감사합니다.</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ko-KR" altLang="en-US"/>
              <a:t>마스터 제목 스타일 편집</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9/24/2025</a:t>
            </a:fld>
            <a:endParaRPr lang="en-US"/>
          </a:p>
        </p:txBody>
      </p:sp>
      <p:sp>
        <p:nvSpPr>
          <p:cNvPr id="5" name="Footer Placeholder 4"/>
          <p:cNvSpPr>
            <a:spLocks noGrp="1"/>
          </p:cNvSpPr>
          <p:nvPr>
            <p:ph type="ftr" sz="quarter" idx="11"/>
          </p:nvPr>
        </p:nvSpPr>
        <p:spPr>
          <a:xfrm>
            <a:off x="1812376" y="246981"/>
            <a:ext cx="3730436" cy="231901"/>
          </a:xfrm>
        </p:spPr>
        <p:txBody>
          <a:bodyPr/>
          <a:lstStyle/>
          <a:p>
            <a:endParaRPr lang="en-US"/>
          </a:p>
        </p:txBody>
      </p:sp>
      <p:sp>
        <p:nvSpPr>
          <p:cNvPr id="6" name="Slide Number Placeholder 5"/>
          <p:cNvSpPr>
            <a:spLocks noGrp="1"/>
          </p:cNvSpPr>
          <p:nvPr>
            <p:ph type="sldNum" sz="quarter" idx="12"/>
          </p:nvPr>
        </p:nvSpPr>
        <p:spPr>
          <a:xfrm>
            <a:off x="1078249" y="599230"/>
            <a:ext cx="608264" cy="377684"/>
          </a:xfrm>
        </p:spPr>
        <p:txBody>
          <a:bodyPr/>
          <a:lstStyle/>
          <a:p>
            <a:fld id="{C5EF2332-01BF-834F-8236-50238282D533}" type="slidenum">
              <a:rPr lang="en-US" smtClean="0"/>
              <a:t>‹#›</a:t>
            </a:fld>
            <a:endParaRPr lang="en-US"/>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68120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ncho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324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ko-KR" altLang="en-US"/>
              <a:t>마스터 제목 스타일 편집</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241EB5C9-1307-BA42-ABA2-0BC069CD8E7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2308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241EB5C9-1307-BA42-ABA2-0BC069CD8E7F}"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8267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 편집</a:t>
            </a:r>
          </a:p>
        </p:txBody>
      </p:sp>
      <p:sp>
        <p:nvSpPr>
          <p:cNvPr id="4" name="Content Placeholder 3"/>
          <p:cNvSpPr>
            <a:spLocks noGrp="1"/>
          </p:cNvSpPr>
          <p:nvPr>
            <p:ph sz="half" idx="2"/>
          </p:nvPr>
        </p:nvSpPr>
        <p:spPr>
          <a:xfrm>
            <a:off x="1085393" y="2118202"/>
            <a:ext cx="3483864" cy="1983343"/>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 편집</a:t>
            </a:r>
          </a:p>
        </p:txBody>
      </p:sp>
      <p:sp>
        <p:nvSpPr>
          <p:cNvPr id="6" name="Content Placeholder 5"/>
          <p:cNvSpPr>
            <a:spLocks noGrp="1"/>
          </p:cNvSpPr>
          <p:nvPr>
            <p:ph sz="quarter" idx="4"/>
          </p:nvPr>
        </p:nvSpPr>
        <p:spPr>
          <a:xfrm>
            <a:off x="4809272" y="2116119"/>
            <a:ext cx="3483864" cy="197802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241EB5C9-1307-BA42-ABA2-0BC069CD8E7F}" type="datetimeFigureOut">
              <a:rPr lang="en-US" smtClean="0"/>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3610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241EB5C9-1307-BA42-ABA2-0BC069CD8E7F}" type="datetimeFigureOut">
              <a:rPr lang="en-US" smtClean="0"/>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03188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46978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ko-KR" altLang="en-US"/>
              <a:t>마스터 제목 스타일 편집</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241EB5C9-1307-BA42-ABA2-0BC069CD8E7F}"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85554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 편집</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241EB5C9-1307-BA42-ABA2-0BC069CD8E7F}" type="datetimeFigureOut">
              <a:rPr lang="en-US" smtClean="0"/>
              <a:t>9/24/2025</a:t>
            </a:fld>
            <a:endParaRPr lang="en-US"/>
          </a:p>
        </p:txBody>
      </p:sp>
      <p:sp>
        <p:nvSpPr>
          <p:cNvPr id="6" name="Footer Placeholder 5"/>
          <p:cNvSpPr>
            <a:spLocks noGrp="1"/>
          </p:cNvSpPr>
          <p:nvPr>
            <p:ph type="ftr" sz="quarter" idx="11"/>
          </p:nvPr>
        </p:nvSpPr>
        <p:spPr>
          <a:xfrm>
            <a:off x="1085537" y="238981"/>
            <a:ext cx="4155753" cy="240698"/>
          </a:xfrm>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67779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5620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0082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241EB5C9-1307-BA42-ABA2-0BC069CD8E7F}" type="datetimeFigureOut">
              <a:rPr lang="en-US" smtClean="0"/>
              <a:t>9/24/2025</a:t>
            </a:fld>
            <a:endParaRPr lang="en-US"/>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C5EF2332-01BF-834F-8236-50238282D533}" type="slidenum">
              <a:rPr lang="en-US" smtClean="0"/>
              <a:t>‹#›</a:t>
            </a:fld>
            <a:endParaRPr lang="en-US"/>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81389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1"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1"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1"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pandoc.org"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실무 교육용 슬라이드: 마크다운 프레젠테이션</a:t>
            </a:r>
          </a:p>
        </p:txBody>
      </p:sp>
      <p:sp>
        <p:nvSpPr>
          <p:cNvPr id="3" name="Content Placeholder 2"/>
          <p:cNvSpPr>
            <a:spLocks noGrp="1"/>
          </p:cNvSpPr>
          <p:nvPr>
            <p:ph idx="1"/>
          </p:nvPr>
        </p:nvSpPr>
        <p:spPr/>
        <p:txBody>
          <a:bodyPr/>
          <a:lstStyle/>
          <a:p>
            <a:pPr marL="0" lvl="0" indent="0">
              <a:buNone/>
            </a:pPr>
            <a:r>
              <a:t>다음은 </a:t>
            </a:r>
            <a:r>
              <a:rPr b="1"/>
              <a:t>‘마크다운으로 슬라이드 프레젠테이션 만들기’</a:t>
            </a:r>
            <a:r>
              <a:t>를 주제로 한 20페이지 분량의 실무 교육용 슬라이드입니다. 마크다운의 기본 개념부터 Pandoc, Marp 등 주요 도구를 활용한 변환 및 고급 기능까지 체계적으로 다루어 초보자도 쉽게 학습할 수 있도록 구성했습니다.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마크다운 프레젠테이션</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텍스트로 만드는 효율적인 슬라이드 제작법</a:t>
            </a:r>
          </a:p>
        </p:txBody>
      </p:sp>
      <p:sp>
        <p:nvSpPr>
          <p:cNvPr id="3" name="Content Placeholder 2"/>
          <p:cNvSpPr>
            <a:spLocks noGrp="1"/>
          </p:cNvSpPr>
          <p:nvPr>
            <p:ph idx="1"/>
          </p:nvPr>
        </p:nvSpPr>
        <p:spPr/>
        <p:txBody>
          <a:bodyPr/>
          <a:lstStyle/>
          <a:p>
            <a:pPr lvl="0"/>
            <a:r>
              <a:rPr b="1"/>
              <a:t>마크다운(Markdown)을 활용한 새로운 방식의 프레젠테이션 제작 방법 소개</a:t>
            </a:r>
          </a:p>
          <a:p>
            <a:pPr lvl="0"/>
            <a:r>
              <a:t>텍스트 기반 문서 작성의 단순함과 다양한 변환 도구의 강력함 결합</a:t>
            </a:r>
          </a:p>
          <a:p>
            <a:pPr lvl="0"/>
            <a:r>
              <a:t>개발자, 연구원, 학생 등 문서 작업 효율을 높이고 싶은 모두를 위한 기술</a:t>
            </a:r>
          </a:p>
          <a:p>
            <a:pPr lvl="0"/>
            <a:r>
              <a:t>복잡한 UI 없이 내용에만 집중하여 세련된 슬라이드를 만드는 과정 학습</a:t>
            </a:r>
          </a:p>
          <a:p>
            <a:pPr lvl="0"/>
            <a:r>
              <a:t>최종 목표는 Pandoc, Marp 등 도구를 활용해 실무용 슬라이드를 제작하는 것</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왜 마크다운인가?</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마크다운 프레젠테이션의 장점</a:t>
            </a:r>
          </a:p>
        </p:txBody>
      </p:sp>
      <p:sp>
        <p:nvSpPr>
          <p:cNvPr id="3" name="Content Placeholder 2"/>
          <p:cNvSpPr>
            <a:spLocks noGrp="1"/>
          </p:cNvSpPr>
          <p:nvPr>
            <p:ph idx="1"/>
          </p:nvPr>
        </p:nvSpPr>
        <p:spPr/>
        <p:txBody>
          <a:bodyPr>
            <a:normAutofit fontScale="92500" lnSpcReduction="20000"/>
          </a:bodyPr>
          <a:lstStyle/>
          <a:p>
            <a:pPr lvl="0"/>
            <a:r>
              <a:rPr b="1"/>
              <a:t>작성이 쉽고 가독성이 높아 내용에만 집중할 수 있는 환경 제공</a:t>
            </a:r>
          </a:p>
          <a:p>
            <a:pPr lvl="0"/>
            <a:r>
              <a:t>Git과 같은 버전 관리 시스템(VCS)을 통해 변경 이력 관리가 용이함</a:t>
            </a:r>
          </a:p>
          <a:p>
            <a:pPr lvl="0"/>
            <a:r>
              <a:t>텍스트 파일이므로 거의 모든 편집기에서 작성 및 수정이 가능함</a:t>
            </a:r>
          </a:p>
          <a:p>
            <a:pPr lvl="0"/>
            <a:r>
              <a:t>Pandoc, Marp 등의 도구를 통해 HTML, PDF, PPTX 등 다양한 포맷으로 손쉬운 변환</a:t>
            </a:r>
          </a:p>
          <a:p>
            <a:pPr lvl="0"/>
            <a:r>
              <a:t>복잡한 서식 지정 없이 구조화된 콘텐츠를 빠르게 생산할 수 있는 장점</a:t>
            </a:r>
          </a:p>
          <a:p>
            <a:pPr lvl="0" indent="0">
              <a:buNone/>
            </a:pPr>
            <a:r>
              <a:rPr>
                <a:latin typeface="Courier"/>
              </a:rPr>
              <a:t>&lt;비교 인포그래픽&gt;
기존 방식: [디자인 도구] -&gt; [콘텐츠 입력] -&gt; [서식 조정] -&gt; [완성]
마크다운:   [콘텐츠 작성] -&gt; [명령어 변환] -&gt; [완성]</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핵심 원칙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마크다운 슬라이드 작성의 기본 규칙</a:t>
            </a:r>
          </a:p>
        </p:txBody>
      </p:sp>
      <p:sp>
        <p:nvSpPr>
          <p:cNvPr id="3" name="Content Placeholder 2"/>
          <p:cNvSpPr>
            <a:spLocks noGrp="1"/>
          </p:cNvSpPr>
          <p:nvPr>
            <p:ph idx="1"/>
          </p:nvPr>
        </p:nvSpPr>
        <p:spPr/>
        <p:txBody>
          <a:bodyPr>
            <a:normAutofit fontScale="40000" lnSpcReduction="20000"/>
          </a:bodyPr>
          <a:lstStyle/>
          <a:p>
            <a:pPr lvl="0"/>
            <a:r>
              <a:rPr b="1"/>
              <a:t>하나의 마크다운(.md) 파일에 모든 슬라이드의 내용을 순서대로 작성함</a:t>
            </a:r>
          </a:p>
          <a:p>
            <a:pPr lvl="0"/>
            <a:r>
              <a:rPr b="1"/>
              <a:t>가로줄(—) 세 개를 사용하여 각 슬라이드 페이지를 명확하게 구분함</a:t>
            </a:r>
          </a:p>
          <a:p>
            <a:pPr lvl="0"/>
            <a:r>
              <a:rPr b="1"/>
              <a:t>가장 큰 제목(H1, #)을 사용하여 각 슬라이드의 제목을 정의하는 것이 일반적임</a:t>
            </a:r>
          </a:p>
          <a:p>
            <a:pPr lvl="0"/>
            <a:r>
              <a:t>문서 상단에 YAML Front Matter를 사용해 제목, 작성자, 테마 등 메타데이터 설정</a:t>
            </a:r>
          </a:p>
          <a:p>
            <a:pPr lvl="0"/>
            <a:r>
              <a:t>텍스트 편집기만 있으면 언제 어디서든 슬라이드 내용 수정 및 관리가 가능함</a:t>
            </a:r>
          </a:p>
          <a:p>
            <a:pPr marL="0" lvl="0" indent="0">
              <a:buNone/>
            </a:pPr>
            <a:r>
              <a:t> </a:t>
            </a:r>
            <a:r>
              <a:rPr b="1"/>
              <a:t>[실무 예시: 기본 슬라이드 구조]</a:t>
            </a:r>
          </a:p>
          <a:p>
            <a:pPr lvl="0" indent="0">
              <a:buNone/>
            </a:pPr>
            <a:r>
              <a:rPr i="1">
                <a:solidFill>
                  <a:srgbClr val="60A0B0"/>
                </a:solidFill>
                <a:latin typeface="Courier"/>
              </a:rPr>
              <a:t>---</a:t>
            </a:r>
            <a:br/>
            <a:r>
              <a:rPr b="1" i="1">
                <a:solidFill>
                  <a:srgbClr val="60A0B0"/>
                </a:solidFill>
                <a:latin typeface="Courier"/>
              </a:rPr>
              <a:t>title:</a:t>
            </a:r>
            <a:r>
              <a:rPr i="1">
                <a:solidFill>
                  <a:srgbClr val="60A0B0"/>
                </a:solidFill>
                <a:latin typeface="Courier"/>
              </a:rPr>
              <a:t> "발표 제목"</a:t>
            </a:r>
            <a:br/>
            <a:r>
              <a:rPr b="1" i="1">
                <a:solidFill>
                  <a:srgbClr val="60A0B0"/>
                </a:solidFill>
                <a:latin typeface="Courier"/>
              </a:rPr>
              <a:t>author:</a:t>
            </a:r>
            <a:r>
              <a:rPr i="1">
                <a:solidFill>
                  <a:srgbClr val="60A0B0"/>
                </a:solidFill>
                <a:latin typeface="Courier"/>
              </a:rPr>
              <a:t> "발표자"</a:t>
            </a:r>
            <a:br/>
            <a:r>
              <a:rPr i="1">
                <a:solidFill>
                  <a:srgbClr val="60A0B0"/>
                </a:solidFill>
                <a:latin typeface="Courier"/>
              </a:rPr>
              <a:t>---</a:t>
            </a:r>
            <a:br/>
            <a:br/>
            <a:r>
              <a:rPr>
                <a:solidFill>
                  <a:srgbClr val="06287E"/>
                </a:solidFill>
                <a:latin typeface="Courier"/>
              </a:rPr>
              <a:t># 1번 슬라이드</a:t>
            </a:r>
            <a:br/>
            <a:r>
              <a:rPr>
                <a:solidFill>
                  <a:srgbClr val="BB6688"/>
                </a:solidFill>
                <a:latin typeface="Courier"/>
              </a:rPr>
              <a:t>- </a:t>
            </a:r>
            <a:r>
              <a:rPr>
                <a:latin typeface="Courier"/>
              </a:rPr>
              <a:t>내용 1</a:t>
            </a:r>
            <a:br/>
            <a:br/>
            <a:r>
              <a:rPr>
                <a:latin typeface="Courier"/>
              </a:rPr>
              <a:t>---</a:t>
            </a:r>
            <a:br/>
            <a:br/>
            <a:r>
              <a:rPr>
                <a:solidFill>
                  <a:srgbClr val="06287E"/>
                </a:solidFill>
                <a:latin typeface="Courier"/>
              </a:rPr>
              <a:t># 2번 슬라이드</a:t>
            </a:r>
            <a:br/>
            <a:r>
              <a:rPr>
                <a:solidFill>
                  <a:srgbClr val="BB6688"/>
                </a:solidFill>
                <a:latin typeface="Courier"/>
              </a:rPr>
              <a:t>- </a:t>
            </a:r>
            <a:r>
              <a:rPr>
                <a:latin typeface="Courier"/>
              </a:rPr>
              <a:t>내용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필수 마크다운 문법</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슬라이드 제작을 위한 기본기</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259320669"/>
              </p:ext>
            </p:extLst>
          </p:nvPr>
        </p:nvGraphicFramePr>
        <p:xfrm>
          <a:off x="3568700" y="383540"/>
          <a:ext cx="5105400" cy="2073716"/>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0">
                <a:tc>
                  <a:txBody>
                    <a:bodyPr/>
                    <a:lstStyle/>
                    <a:p>
                      <a:pPr marL="0" lvl="0" indent="0" algn="l">
                        <a:buNone/>
                      </a:pPr>
                      <a:r>
                        <a:t>문법 종류</a:t>
                      </a:r>
                    </a:p>
                  </a:txBody>
                  <a:tcPr/>
                </a:tc>
                <a:tc>
                  <a:txBody>
                    <a:bodyPr/>
                    <a:lstStyle/>
                    <a:p>
                      <a:pPr marL="0" lvl="0" indent="0" algn="l">
                        <a:buNone/>
                      </a:pPr>
                      <a:r>
                        <a:t>마크다운 예시</a:t>
                      </a:r>
                    </a:p>
                  </a:txBody>
                  <a:tcPr/>
                </a:tc>
                <a:tc>
                  <a:txBody>
                    <a:bodyPr/>
                    <a:lstStyle/>
                    <a:p>
                      <a:pPr marL="0" lvl="0" indent="0" algn="l">
                        <a:buNone/>
                      </a:pPr>
                      <a:r>
                        <a:t>결과물</a:t>
                      </a:r>
                    </a:p>
                  </a:txBody>
                  <a:tcPr/>
                </a:tc>
                <a:extLst>
                  <a:ext uri="{0D108BD9-81ED-4DB2-BD59-A6C34878D82A}">
                    <a16:rowId xmlns:a16="http://schemas.microsoft.com/office/drawing/2014/main" val="10000"/>
                  </a:ext>
                </a:extLst>
              </a:tr>
              <a:tr h="0">
                <a:tc>
                  <a:txBody>
                    <a:bodyPr/>
                    <a:lstStyle/>
                    <a:p>
                      <a:pPr marL="0" lvl="0" indent="0" algn="l">
                        <a:buNone/>
                      </a:pPr>
                      <a:r>
                        <a:t>제목 2</a:t>
                      </a:r>
                    </a:p>
                  </a:txBody>
                  <a:tcPr/>
                </a:tc>
                <a:tc>
                  <a:txBody>
                    <a:bodyPr/>
                    <a:lstStyle/>
                    <a:p>
                      <a:pPr marL="0" lvl="0" indent="0" algn="l">
                        <a:buNone/>
                      </a:pPr>
                      <a:r>
                        <a:rPr>
                          <a:latin typeface="Courier"/>
                        </a:rPr>
                        <a:t>## 소제목</a:t>
                      </a:r>
                    </a:p>
                  </a:txBody>
                  <a:tcPr/>
                </a:tc>
                <a:tc>
                  <a:txBody>
                    <a:bodyPr/>
                    <a:lstStyle/>
                    <a:p>
                      <a:pPr marL="0" lvl="0" indent="0" algn="l">
                        <a:buNone/>
                      </a:pPr>
                      <a:r>
                        <a:t>## 소제목</a:t>
                      </a:r>
                    </a:p>
                  </a:txBody>
                  <a:tcPr/>
                </a:tc>
                <a:extLst>
                  <a:ext uri="{0D108BD9-81ED-4DB2-BD59-A6C34878D82A}">
                    <a16:rowId xmlns:a16="http://schemas.microsoft.com/office/drawing/2014/main" val="10001"/>
                  </a:ext>
                </a:extLst>
              </a:tr>
              <a:tr h="0">
                <a:tc>
                  <a:txBody>
                    <a:bodyPr/>
                    <a:lstStyle/>
                    <a:p>
                      <a:pPr marL="0" lvl="0" indent="0" algn="l">
                        <a:buNone/>
                      </a:pPr>
                      <a:r>
                        <a:t>강조</a:t>
                      </a:r>
                    </a:p>
                  </a:txBody>
                  <a:tcPr/>
                </a:tc>
                <a:tc>
                  <a:txBody>
                    <a:bodyPr/>
                    <a:lstStyle/>
                    <a:p>
                      <a:pPr marL="0" lvl="0" indent="0" algn="l">
                        <a:buNone/>
                      </a:pPr>
                      <a:r>
                        <a:rPr>
                          <a:latin typeface="Courier"/>
                        </a:rPr>
                        <a:t>**중요한 내용**</a:t>
                      </a:r>
                    </a:p>
                  </a:txBody>
                  <a:tcPr/>
                </a:tc>
                <a:tc>
                  <a:txBody>
                    <a:bodyPr/>
                    <a:lstStyle/>
                    <a:p>
                      <a:pPr marL="0" lvl="0" indent="0" algn="l">
                        <a:buNone/>
                      </a:pPr>
                      <a:r>
                        <a:rPr b="1"/>
                        <a:t>중요한 내용</a:t>
                      </a:r>
                    </a:p>
                  </a:txBody>
                  <a:tcPr/>
                </a:tc>
                <a:extLst>
                  <a:ext uri="{0D108BD9-81ED-4DB2-BD59-A6C34878D82A}">
                    <a16:rowId xmlns:a16="http://schemas.microsoft.com/office/drawing/2014/main" val="10002"/>
                  </a:ext>
                </a:extLst>
              </a:tr>
              <a:tr h="0">
                <a:tc>
                  <a:txBody>
                    <a:bodyPr/>
                    <a:lstStyle/>
                    <a:p>
                      <a:pPr marL="0" lvl="0" indent="0" algn="l">
                        <a:buNone/>
                      </a:pPr>
                      <a:r>
                        <a:t>인라인 코드</a:t>
                      </a:r>
                    </a:p>
                  </a:txBody>
                  <a:tcPr/>
                </a:tc>
                <a:tc>
                  <a:txBody>
                    <a:bodyPr/>
                    <a:lstStyle/>
                    <a:p>
                      <a:pPr marL="0" lvl="0" indent="0" algn="l">
                        <a:buNone/>
                      </a:pPr>
                      <a:r>
                        <a:rPr>
                          <a:latin typeface="Courier"/>
                        </a:rPr>
                        <a:t>`code()`</a:t>
                      </a:r>
                    </a:p>
                  </a:txBody>
                  <a:tcPr/>
                </a:tc>
                <a:tc>
                  <a:txBody>
                    <a:bodyPr/>
                    <a:lstStyle/>
                    <a:p>
                      <a:pPr marL="0" lvl="0" indent="0" algn="l">
                        <a:buNone/>
                      </a:pPr>
                      <a:r>
                        <a:rPr>
                          <a:latin typeface="Courier"/>
                        </a:rPr>
                        <a:t>code()</a:t>
                      </a:r>
                    </a:p>
                  </a:txBody>
                  <a:tcPr/>
                </a:tc>
                <a:extLst>
                  <a:ext uri="{0D108BD9-81ED-4DB2-BD59-A6C34878D82A}">
                    <a16:rowId xmlns:a16="http://schemas.microsoft.com/office/drawing/2014/main" val="10003"/>
                  </a:ext>
                </a:extLst>
              </a:tr>
              <a:tr h="884996">
                <a:tc>
                  <a:txBody>
                    <a:bodyPr/>
                    <a:lstStyle/>
                    <a:p>
                      <a:pPr marL="0" lvl="0" indent="0" algn="l">
                        <a:buNone/>
                      </a:pPr>
                      <a:r>
                        <a:t>링크</a:t>
                      </a:r>
                    </a:p>
                  </a:txBody>
                  <a:tcPr/>
                </a:tc>
                <a:tc>
                  <a:txBody>
                    <a:bodyPr/>
                    <a:lstStyle/>
                    <a:p>
                      <a:pPr marL="0" lvl="0" indent="0" algn="l">
                        <a:buNone/>
                      </a:pPr>
                      <a:r>
                        <a:rPr>
                          <a:latin typeface="Courier"/>
                        </a:rPr>
                        <a:t>[Pandoc](https://pandoc.org)</a:t>
                      </a:r>
                    </a:p>
                  </a:txBody>
                  <a:tcPr/>
                </a:tc>
                <a:tc>
                  <a:txBody>
                    <a:bodyPr/>
                    <a:lstStyle/>
                    <a:p>
                      <a:pPr marL="0" lvl="0" indent="0" algn="l">
                        <a:buNone/>
                      </a:pPr>
                      <a:r>
                        <a:rPr dirty="0" err="1">
                          <a:hlinkClick r:id="rId3"/>
                        </a:rPr>
                        <a:t>Pandoc</a:t>
                      </a:r>
                      <a:endParaRPr dirty="0">
                        <a:hlinkClick r:id="rId3"/>
                      </a:endParaRPr>
                    </a:p>
                  </a:txBody>
                  <a:tcPr/>
                </a:tc>
                <a:extLst>
                  <a:ext uri="{0D108BD9-81ED-4DB2-BD59-A6C34878D82A}">
                    <a16:rowId xmlns:a16="http://schemas.microsoft.com/office/drawing/2014/main" val="10004"/>
                  </a:ext>
                </a:extLst>
              </a:tr>
            </a:tbl>
          </a:graphicData>
        </a:graphic>
      </p:graphicFrame>
      <p:sp>
        <p:nvSpPr>
          <p:cNvPr id="4" name="Text Placeholder 3"/>
          <p:cNvSpPr>
            <a:spLocks noGrp="1"/>
          </p:cNvSpPr>
          <p:nvPr>
            <p:ph type="body" sz="half" idx="2"/>
          </p:nvPr>
        </p:nvSpPr>
        <p:spPr/>
        <p:txBody>
          <a:bodyPr>
            <a:normAutofit fontScale="55000" lnSpcReduction="20000"/>
          </a:bodyPr>
          <a:lstStyle/>
          <a:p>
            <a:pPr lvl="0"/>
            <a:r>
              <a:rPr b="1"/>
              <a:t>제목(Headers):</a:t>
            </a:r>
            <a:r>
              <a:t> </a:t>
            </a:r>
            <a:r>
              <a:rPr>
                <a:latin typeface="Courier"/>
              </a:rPr>
              <a:t>#</a:t>
            </a:r>
            <a:r>
              <a:t>의 개수로 수준을 조절하여 슬라이드 제목과 소제목을 구성함</a:t>
            </a:r>
          </a:p>
          <a:p>
            <a:pPr lvl="0"/>
            <a:r>
              <a:rPr b="1"/>
              <a:t>목록(Lists):</a:t>
            </a:r>
            <a:r>
              <a:t> 순서 없는 목록(</a:t>
            </a:r>
            <a:r>
              <a:rPr>
                <a:latin typeface="Courier"/>
              </a:rPr>
              <a:t>*</a:t>
            </a:r>
            <a:r>
              <a:t>, </a:t>
            </a:r>
            <a:r>
              <a:rPr>
                <a:latin typeface="Courier"/>
              </a:rPr>
              <a:t>-</a:t>
            </a:r>
            <a:r>
              <a:t>)과 순서 있는 목록(</a:t>
            </a:r>
            <a:r>
              <a:rPr>
                <a:latin typeface="Courier"/>
              </a:rPr>
              <a:t>1.</a:t>
            </a:r>
            <a:r>
              <a:t>)으로 내용 구조화</a:t>
            </a:r>
          </a:p>
          <a:p>
            <a:pPr lvl="0"/>
            <a:r>
              <a:rPr b="1"/>
              <a:t>강조(Emphasis):</a:t>
            </a:r>
            <a:r>
              <a:t> </a:t>
            </a:r>
            <a:r>
              <a:rPr>
                <a:latin typeface="Courier"/>
              </a:rPr>
              <a:t>*Italic*</a:t>
            </a:r>
            <a:r>
              <a:t>, </a:t>
            </a:r>
            <a:r>
              <a:rPr>
                <a:latin typeface="Courier"/>
              </a:rPr>
              <a:t>**Bold**</a:t>
            </a:r>
            <a:r>
              <a:t> 등을 사용해 핵심 단어나 문장을 강조함</a:t>
            </a:r>
          </a:p>
          <a:p>
            <a:pPr lvl="0"/>
            <a:r>
              <a:rPr b="1"/>
              <a:t>코드 블록(Code Blocks):</a:t>
            </a:r>
            <a:r>
              <a:t> ``` 기호를 사용해 소스 코드나 명령어 예시를 깔끔하게 표시</a:t>
            </a:r>
          </a:p>
          <a:p>
            <a:pPr lvl="0"/>
            <a:r>
              <a:rPr b="1"/>
              <a:t>링크 및 이미지(Links &amp; Images):</a:t>
            </a:r>
            <a:r>
              <a:t> </a:t>
            </a:r>
            <a:r>
              <a:rPr>
                <a:latin typeface="Courier"/>
              </a:rPr>
              <a:t>[텍스트](URL)</a:t>
            </a:r>
            <a:r>
              <a:t> 형식으로 하이퍼링크나 이미지를 손쉽게 삽입</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주요 변환 도구</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마크다운을 슬라이드로 만드는 방법들</a:t>
            </a:r>
          </a:p>
        </p:txBody>
      </p:sp>
      <p:graphicFrame>
        <p:nvGraphicFramePr>
          <p:cNvPr id="6" name="Content Placeholder 5"/>
          <p:cNvGraphicFramePr>
            <a:graphicFrameLocks noGrp="1"/>
          </p:cNvGraphicFramePr>
          <p:nvPr>
            <p:ph idx="1"/>
          </p:nvPr>
        </p:nvGraphicFramePr>
        <p:xfrm>
          <a:off x="3568700" y="203200"/>
          <a:ext cx="5080000" cy="272034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0">
                <a:tc>
                  <a:txBody>
                    <a:bodyPr/>
                    <a:lstStyle/>
                    <a:p>
                      <a:pPr marL="0" lvl="0" indent="0" algn="l">
                        <a:buNone/>
                      </a:pPr>
                      <a:r>
                        <a:t>도구</a:t>
                      </a:r>
                    </a:p>
                  </a:txBody>
                  <a:tcPr/>
                </a:tc>
                <a:tc>
                  <a:txBody>
                    <a:bodyPr/>
                    <a:lstStyle/>
                    <a:p>
                      <a:pPr marL="0" lvl="0" indent="0" algn="l">
                        <a:buNone/>
                      </a:pPr>
                      <a:r>
                        <a:t>주요 특징</a:t>
                      </a:r>
                    </a:p>
                  </a:txBody>
                  <a:tcPr/>
                </a:tc>
                <a:tc>
                  <a:txBody>
                    <a:bodyPr/>
                    <a:lstStyle/>
                    <a:p>
                      <a:pPr marL="0" lvl="0" indent="0" algn="l">
                        <a:buNone/>
                      </a:pPr>
                      <a:r>
                        <a:t>출력 형식</a:t>
                      </a:r>
                    </a:p>
                  </a:txBody>
                  <a:tcPr/>
                </a:tc>
                <a:tc>
                  <a:txBody>
                    <a:bodyPr/>
                    <a:lstStyle/>
                    <a:p>
                      <a:pPr marL="0" lvl="0" indent="0" algn="l">
                        <a:buNone/>
                      </a:pPr>
                      <a:r>
                        <a:t>대상 사용자</a:t>
                      </a:r>
                    </a:p>
                  </a:txBody>
                  <a:tcPr/>
                </a:tc>
                <a:extLst>
                  <a:ext uri="{0D108BD9-81ED-4DB2-BD59-A6C34878D82A}">
                    <a16:rowId xmlns:a16="http://schemas.microsoft.com/office/drawing/2014/main" val="10000"/>
                  </a:ext>
                </a:extLst>
              </a:tr>
              <a:tr h="0">
                <a:tc>
                  <a:txBody>
                    <a:bodyPr/>
                    <a:lstStyle/>
                    <a:p>
                      <a:pPr marL="0" lvl="0" indent="0" algn="l">
                        <a:buNone/>
                      </a:pPr>
                      <a:r>
                        <a:rPr b="1"/>
                        <a:t>Pandoc</a:t>
                      </a:r>
                    </a:p>
                  </a:txBody>
                  <a:tcPr/>
                </a:tc>
                <a:tc>
                  <a:txBody>
                    <a:bodyPr/>
                    <a:lstStyle/>
                    <a:p>
                      <a:pPr marL="0" lvl="0" indent="0" algn="l">
                        <a:buNone/>
                      </a:pPr>
                      <a:r>
                        <a:t>범용성, 강력한 확장성</a:t>
                      </a:r>
                    </a:p>
                  </a:txBody>
                  <a:tcPr/>
                </a:tc>
                <a:tc>
                  <a:txBody>
                    <a:bodyPr/>
                    <a:lstStyle/>
                    <a:p>
                      <a:pPr marL="0" lvl="0" indent="0" algn="l">
                        <a:buNone/>
                      </a:pPr>
                      <a:r>
                        <a:t>HTML, PDF, PPTX 등</a:t>
                      </a:r>
                    </a:p>
                  </a:txBody>
                  <a:tcPr/>
                </a:tc>
                <a:tc>
                  <a:txBody>
                    <a:bodyPr/>
                    <a:lstStyle/>
                    <a:p>
                      <a:pPr marL="0" lvl="0" indent="0" algn="l">
                        <a:buNone/>
                      </a:pPr>
                      <a:r>
                        <a:t>학술, 기술 문서 작성자</a:t>
                      </a:r>
                    </a:p>
                  </a:txBody>
                  <a:tcPr/>
                </a:tc>
                <a:extLst>
                  <a:ext uri="{0D108BD9-81ED-4DB2-BD59-A6C34878D82A}">
                    <a16:rowId xmlns:a16="http://schemas.microsoft.com/office/drawing/2014/main" val="10001"/>
                  </a:ext>
                </a:extLst>
              </a:tr>
              <a:tr h="0">
                <a:tc>
                  <a:txBody>
                    <a:bodyPr/>
                    <a:lstStyle/>
                    <a:p>
                      <a:pPr marL="0" lvl="0" indent="0" algn="l">
                        <a:buNone/>
                      </a:pPr>
                      <a:r>
                        <a:rPr b="1"/>
                        <a:t>Marp</a:t>
                      </a:r>
                    </a:p>
                  </a:txBody>
                  <a:tcPr/>
                </a:tc>
                <a:tc>
                  <a:txBody>
                    <a:bodyPr/>
                    <a:lstStyle/>
                    <a:p>
                      <a:pPr marL="0" lvl="0" indent="0" algn="l">
                        <a:buNone/>
                      </a:pPr>
                      <a:r>
                        <a:t>사용 편의성, 실시간 미리보기</a:t>
                      </a:r>
                    </a:p>
                  </a:txBody>
                  <a:tcPr/>
                </a:tc>
                <a:tc>
                  <a:txBody>
                    <a:bodyPr/>
                    <a:lstStyle/>
                    <a:p>
                      <a:pPr marL="0" lvl="0" indent="0" algn="l">
                        <a:buNone/>
                      </a:pPr>
                      <a:r>
                        <a:t>HTML, PDF, PPTX</a:t>
                      </a:r>
                    </a:p>
                  </a:txBody>
                  <a:tcPr/>
                </a:tc>
                <a:tc>
                  <a:txBody>
                    <a:bodyPr/>
                    <a:lstStyle/>
                    <a:p>
                      <a:pPr marL="0" lvl="0" indent="0" algn="l">
                        <a:buNone/>
                      </a:pPr>
                      <a:r>
                        <a:t>모든 사용자, 특히 초보자</a:t>
                      </a:r>
                    </a:p>
                  </a:txBody>
                  <a:tcPr/>
                </a:tc>
                <a:extLst>
                  <a:ext uri="{0D108BD9-81ED-4DB2-BD59-A6C34878D82A}">
                    <a16:rowId xmlns:a16="http://schemas.microsoft.com/office/drawing/2014/main" val="10002"/>
                  </a:ext>
                </a:extLst>
              </a:tr>
              <a:tr h="0">
                <a:tc>
                  <a:txBody>
                    <a:bodyPr/>
                    <a:lstStyle/>
                    <a:p>
                      <a:pPr marL="0" lvl="0" indent="0" algn="l">
                        <a:buNone/>
                      </a:pPr>
                      <a:r>
                        <a:rPr b="1"/>
                        <a:t>Reveal.js</a:t>
                      </a:r>
                    </a:p>
                  </a:txBody>
                  <a:tcPr/>
                </a:tc>
                <a:tc>
                  <a:txBody>
                    <a:bodyPr/>
                    <a:lstStyle/>
                    <a:p>
                      <a:pPr marL="0" lvl="0" indent="0" algn="l">
                        <a:buNone/>
                      </a:pPr>
                      <a:r>
                        <a:t>기능성, 동적 효과, 2D 슬라이드</a:t>
                      </a:r>
                    </a:p>
                  </a:txBody>
                  <a:tcPr/>
                </a:tc>
                <a:tc>
                  <a:txBody>
                    <a:bodyPr/>
                    <a:lstStyle/>
                    <a:p>
                      <a:pPr marL="0" lvl="0" indent="0" algn="l">
                        <a:buNone/>
                      </a:pPr>
                      <a:r>
                        <a:t>HTML</a:t>
                      </a:r>
                    </a:p>
                  </a:txBody>
                  <a:tcPr/>
                </a:tc>
                <a:tc>
                  <a:txBody>
                    <a:bodyPr/>
                    <a:lstStyle/>
                    <a:p>
                      <a:pPr marL="0" lvl="0" indent="0" algn="l">
                        <a:buNone/>
                      </a:pPr>
                      <a:r>
                        <a:t>웹 개발자, 고급 사용자</a:t>
                      </a:r>
                    </a:p>
                  </a:txBody>
                  <a:tcPr/>
                </a:tc>
                <a:extLst>
                  <a:ext uri="{0D108BD9-81ED-4DB2-BD59-A6C34878D82A}">
                    <a16:rowId xmlns:a16="http://schemas.microsoft.com/office/drawing/2014/main" val="10003"/>
                  </a:ext>
                </a:extLst>
              </a:tr>
              <a:tr h="0">
                <a:tc>
                  <a:txBody>
                    <a:bodyPr/>
                    <a:lstStyle/>
                    <a:p>
                      <a:pPr marL="0" lvl="0" indent="0" algn="l">
                        <a:buNone/>
                      </a:pPr>
                      <a:r>
                        <a:rPr b="1"/>
                        <a:t>Lookatme</a:t>
                      </a:r>
                    </a:p>
                  </a:txBody>
                  <a:tcPr/>
                </a:tc>
                <a:tc>
                  <a:txBody>
                    <a:bodyPr/>
                    <a:lstStyle/>
                    <a:p>
                      <a:pPr marL="0" lvl="0" indent="0" algn="l">
                        <a:buNone/>
                      </a:pPr>
                      <a:r>
                        <a:t>터미널 기반, 단순함</a:t>
                      </a:r>
                    </a:p>
                  </a:txBody>
                  <a:tcPr/>
                </a:tc>
                <a:tc>
                  <a:txBody>
                    <a:bodyPr/>
                    <a:lstStyle/>
                    <a:p>
                      <a:pPr marL="0" lvl="0" indent="0" algn="l">
                        <a:buNone/>
                      </a:pPr>
                      <a:r>
                        <a:t>터미널 출력</a:t>
                      </a:r>
                    </a:p>
                  </a:txBody>
                  <a:tcPr/>
                </a:tc>
                <a:tc>
                  <a:txBody>
                    <a:bodyPr/>
                    <a:lstStyle/>
                    <a:p>
                      <a:pPr marL="0" lvl="0" indent="0" algn="l">
                        <a:buNone/>
                      </a:pPr>
                      <a:r>
                        <a:t>터미널 환경 선호 개발자</a:t>
                      </a:r>
                    </a:p>
                  </a:txBody>
                  <a:tcPr/>
                </a:tc>
                <a:extLst>
                  <a:ext uri="{0D108BD9-81ED-4DB2-BD59-A6C34878D82A}">
                    <a16:rowId xmlns:a16="http://schemas.microsoft.com/office/drawing/2014/main" val="10004"/>
                  </a:ext>
                </a:extLst>
              </a:tr>
            </a:tbl>
          </a:graphicData>
        </a:graphic>
      </p:graphicFrame>
      <p:sp>
        <p:nvSpPr>
          <p:cNvPr id="4" name="Text Placeholder 3"/>
          <p:cNvSpPr>
            <a:spLocks noGrp="1"/>
          </p:cNvSpPr>
          <p:nvPr>
            <p:ph type="body" sz="half" idx="2"/>
          </p:nvPr>
        </p:nvSpPr>
        <p:spPr/>
        <p:txBody>
          <a:bodyPr>
            <a:normAutofit fontScale="55000" lnSpcReduction="20000"/>
          </a:bodyPr>
          <a:lstStyle/>
          <a:p>
            <a:pPr lvl="0"/>
            <a:r>
              <a:rPr b="1"/>
              <a:t>Pandoc:</a:t>
            </a:r>
            <a:r>
              <a:t> 거의 모든 문서 포맷을 변환할 수 있는 ‘만능 문서 변환기’</a:t>
            </a:r>
          </a:p>
          <a:p>
            <a:pPr lvl="0"/>
            <a:r>
              <a:rPr b="1"/>
              <a:t>Marp:</a:t>
            </a:r>
            <a:r>
              <a:t> VS Code 확장 기능과 CLI를 제공하는 마크다운 프레젠테이션 생태계</a:t>
            </a:r>
          </a:p>
          <a:p>
            <a:pPr lvl="0"/>
            <a:r>
              <a:rPr b="1"/>
              <a:t>Reveal.js:</a:t>
            </a:r>
            <a:r>
              <a:t> 강력한 기능을 갖춘 HTML 기반 프레젠테이션 프레임워크</a:t>
            </a:r>
          </a:p>
          <a:p>
            <a:pPr lvl="0"/>
            <a:r>
              <a:rPr b="1"/>
              <a:t>Lookatme:</a:t>
            </a:r>
            <a:r>
              <a:t> 개발자에게 친숙한 터미널 환경에서 슬라이드를 보여주는 도구</a:t>
            </a:r>
          </a:p>
          <a:p>
            <a:pPr lvl="0"/>
            <a:r>
              <a:rPr b="1"/>
              <a:t>Slidev:</a:t>
            </a:r>
            <a:r>
              <a:t> Vue.js 기반으로 웹 개발자에게 최적화된 차세대 슬라이드 도구</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Pandoc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만능 문서 변환기</a:t>
            </a:r>
          </a:p>
        </p:txBody>
      </p:sp>
      <p:sp>
        <p:nvSpPr>
          <p:cNvPr id="3" name="Content Placeholder 2"/>
          <p:cNvSpPr>
            <a:spLocks noGrp="1"/>
          </p:cNvSpPr>
          <p:nvPr>
            <p:ph idx="1"/>
          </p:nvPr>
        </p:nvSpPr>
        <p:spPr/>
        <p:txBody>
          <a:bodyPr>
            <a:normAutofit fontScale="92500" lnSpcReduction="10000"/>
          </a:bodyPr>
          <a:lstStyle/>
          <a:p>
            <a:pPr lvl="0"/>
            <a:r>
              <a:rPr b="1"/>
              <a:t>하나의 소스로 다양한 결과물 생성:</a:t>
            </a:r>
            <a:r>
              <a:t> HTML, PDF, PPTX 등 30개 이상의 포맷 지원</a:t>
            </a:r>
          </a:p>
          <a:p>
            <a:pPr lvl="0"/>
            <a:r>
              <a:rPr b="1"/>
              <a:t>명령줄 인터페이스(CLI) 기반:</a:t>
            </a:r>
            <a:r>
              <a:t> 스크립트를 통한 자동화된 문서 변환 워크플로우 구축 가능</a:t>
            </a:r>
          </a:p>
          <a:p>
            <a:pPr lvl="0"/>
            <a:r>
              <a:rPr b="1"/>
              <a:t>강력한 확장 기능:</a:t>
            </a:r>
            <a:r>
              <a:t> 필터(Filter)와 템플릿(Template)을 이용해 출력물을 세밀하게 제어</a:t>
            </a:r>
          </a:p>
          <a:p>
            <a:pPr lvl="0"/>
            <a:r>
              <a:rPr b="1"/>
              <a:t>학술적 글쓰기에 최적화:</a:t>
            </a:r>
            <a:r>
              <a:t> 각주, 인용, 참고 문헌 자동 생성 기능 지원</a:t>
            </a:r>
          </a:p>
          <a:p>
            <a:pPr lvl="0"/>
            <a:r>
              <a:rPr b="1"/>
              <a:t>다양한 슬라이드 프레임워크 지원:</a:t>
            </a:r>
            <a:r>
              <a:t> Reveal.js, Beamer, Slidy 등과 연동하여 슬라이드 제작</a:t>
            </a:r>
          </a:p>
          <a:p>
            <a:pPr lvl="0" indent="0">
              <a:buNone/>
            </a:pPr>
            <a:r>
              <a:rPr>
                <a:latin typeface="Courier"/>
              </a:rPr>
              <a:t>&lt;변환 과정 인포그래픽&gt;
[Markdown 파일] --(Pandoc)--&gt; [AST] --(Writer)--&gt; [HTML/PDF/PPTX]</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Pandoc 변환 실습</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HTML 및 PowerPoint 슬라이드 만들기</a:t>
            </a:r>
          </a:p>
        </p:txBody>
      </p:sp>
      <p:sp>
        <p:nvSpPr>
          <p:cNvPr id="3" name="Content Placeholder 2"/>
          <p:cNvSpPr>
            <a:spLocks noGrp="1"/>
          </p:cNvSpPr>
          <p:nvPr>
            <p:ph idx="1"/>
          </p:nvPr>
        </p:nvSpPr>
        <p:spPr/>
        <p:txBody>
          <a:bodyPr>
            <a:normAutofit fontScale="55000" lnSpcReduction="20000"/>
          </a:bodyPr>
          <a:lstStyle/>
          <a:p>
            <a:pPr lvl="0"/>
            <a:r>
              <a:rPr b="1"/>
              <a:t>HTML 슬라이드 변환:</a:t>
            </a:r>
            <a:r>
              <a:t> </a:t>
            </a:r>
            <a:r>
              <a:rPr>
                <a:latin typeface="Courier"/>
              </a:rPr>
              <a:t>-t</a:t>
            </a:r>
            <a:r>
              <a:t> 옵션으로 </a:t>
            </a:r>
            <a:r>
              <a:rPr>
                <a:latin typeface="Courier"/>
              </a:rPr>
              <a:t>revealjs</a:t>
            </a:r>
            <a:r>
              <a:t>, </a:t>
            </a:r>
            <a:r>
              <a:rPr>
                <a:latin typeface="Courier"/>
              </a:rPr>
              <a:t>slidy</a:t>
            </a:r>
            <a:r>
              <a:t> 등 원하는 형식을 지정함</a:t>
            </a:r>
          </a:p>
          <a:p>
            <a:pPr lvl="0"/>
            <a:r>
              <a:rPr b="1"/>
              <a:t>독립 실행형 파일:</a:t>
            </a:r>
            <a:r>
              <a:t> </a:t>
            </a:r>
            <a:r>
              <a:rPr>
                <a:latin typeface="Courier"/>
              </a:rPr>
              <a:t>-s</a:t>
            </a:r>
            <a:r>
              <a:t> 또는 </a:t>
            </a:r>
            <a:r>
              <a:rPr>
                <a:latin typeface="Courier"/>
              </a:rPr>
              <a:t>--standalone</a:t>
            </a:r>
            <a:r>
              <a:t> 옵션으로 완전한 HTML 문서를 생성함</a:t>
            </a:r>
          </a:p>
          <a:p>
            <a:pPr lvl="0"/>
            <a:r>
              <a:rPr b="1"/>
              <a:t>PowerPoint 변환:</a:t>
            </a:r>
            <a:r>
              <a:t> </a:t>
            </a:r>
            <a:r>
              <a:rPr>
                <a:latin typeface="Courier"/>
              </a:rPr>
              <a:t>-o</a:t>
            </a:r>
            <a:r>
              <a:t> 옵션으로 출력 파일 확장자를 </a:t>
            </a:r>
            <a:r>
              <a:rPr>
                <a:latin typeface="Courier"/>
              </a:rPr>
              <a:t>.pptx</a:t>
            </a:r>
            <a:r>
              <a:t>로 지정하면 자동으로 변환됨</a:t>
            </a:r>
          </a:p>
          <a:p>
            <a:pPr lvl="0"/>
            <a:r>
              <a:rPr b="1"/>
              <a:t>의존성 없는 파일:</a:t>
            </a:r>
            <a:r>
              <a:t> </a:t>
            </a:r>
            <a:r>
              <a:rPr>
                <a:latin typeface="Courier"/>
              </a:rPr>
              <a:t>--self-contained</a:t>
            </a:r>
            <a:r>
              <a:t> 옵션으로 CSS, JS, 이미지를 파일 내에 모두 포함시킴</a:t>
            </a:r>
          </a:p>
          <a:p>
            <a:pPr lvl="0"/>
            <a:r>
              <a:rPr b="1"/>
              <a:t>다중 파일 입력:</a:t>
            </a:r>
            <a:r>
              <a:t> 여러 마크다운 파일을 순서대로 입력하여 하나의 프레젠테이션으로 병합 가능</a:t>
            </a:r>
          </a:p>
          <a:p>
            <a:pPr marL="0" lvl="0" indent="0">
              <a:buNone/>
            </a:pPr>
            <a:r>
              <a:t> </a:t>
            </a:r>
            <a:r>
              <a:rPr b="1"/>
              <a:t>[실무 예시: 변환 명령어]</a:t>
            </a:r>
          </a:p>
          <a:p>
            <a:pPr lvl="0" indent="0">
              <a:buNone/>
            </a:pPr>
            <a:r>
              <a:rPr i="1">
                <a:solidFill>
                  <a:srgbClr val="60A0B0"/>
                </a:solidFill>
                <a:latin typeface="Courier"/>
              </a:rPr>
              <a:t># Reveal.js HTML 슬라이드 생성</a:t>
            </a:r>
            <a:br/>
            <a:r>
              <a:rPr>
                <a:latin typeface="Courier"/>
              </a:rPr>
              <a:t>pandoc slides.md </a:t>
            </a:r>
            <a:r>
              <a:rPr>
                <a:solidFill>
                  <a:srgbClr val="7D9029"/>
                </a:solidFill>
                <a:latin typeface="Courier"/>
              </a:rPr>
              <a:t>-t</a:t>
            </a:r>
            <a:r>
              <a:rPr>
                <a:latin typeface="Courier"/>
              </a:rPr>
              <a:t> revealjs </a:t>
            </a:r>
            <a:r>
              <a:rPr>
                <a:solidFill>
                  <a:srgbClr val="7D9029"/>
                </a:solidFill>
                <a:latin typeface="Courier"/>
              </a:rPr>
              <a:t>-s</a:t>
            </a:r>
            <a:r>
              <a:rPr>
                <a:latin typeface="Courier"/>
              </a:rPr>
              <a:t> </a:t>
            </a:r>
            <a:r>
              <a:rPr>
                <a:solidFill>
                  <a:srgbClr val="7D9029"/>
                </a:solidFill>
                <a:latin typeface="Courier"/>
              </a:rPr>
              <a:t>-o</a:t>
            </a:r>
            <a:r>
              <a:rPr>
                <a:latin typeface="Courier"/>
              </a:rPr>
              <a:t> presentation.html</a:t>
            </a:r>
            <a:br/>
            <a:br/>
            <a:r>
              <a:rPr i="1">
                <a:solidFill>
                  <a:srgbClr val="60A0B0"/>
                </a:solidFill>
                <a:latin typeface="Courier"/>
              </a:rPr>
              <a:t># PowerPoint(.pptx) 파일 생성</a:t>
            </a:r>
            <a:br/>
            <a:r>
              <a:rPr>
                <a:latin typeface="Courier"/>
              </a:rPr>
              <a:t>pandoc slides.md </a:t>
            </a:r>
            <a:r>
              <a:rPr>
                <a:solidFill>
                  <a:srgbClr val="7D9029"/>
                </a:solidFill>
                <a:latin typeface="Courier"/>
              </a:rPr>
              <a:t>-o</a:t>
            </a:r>
            <a:r>
              <a:rPr>
                <a:latin typeface="Courier"/>
              </a:rPr>
              <a:t> presentation.pptx</a:t>
            </a:r>
            <a:br/>
            <a:br/>
            <a:r>
              <a:rPr i="1">
                <a:solidFill>
                  <a:srgbClr val="60A0B0"/>
                </a:solidFill>
                <a:latin typeface="Courier"/>
              </a:rPr>
              <a:t># 모든 리소스를 포함한 단일 HTML 파일 생성</a:t>
            </a:r>
            <a:br/>
            <a:r>
              <a:rPr>
                <a:latin typeface="Courier"/>
              </a:rPr>
              <a:t>pandoc slides.md </a:t>
            </a:r>
            <a:r>
              <a:rPr>
                <a:solidFill>
                  <a:srgbClr val="7D9029"/>
                </a:solidFill>
                <a:latin typeface="Courier"/>
              </a:rPr>
              <a:t>-t</a:t>
            </a:r>
            <a:r>
              <a:rPr>
                <a:latin typeface="Courier"/>
              </a:rPr>
              <a:t> slidy </a:t>
            </a:r>
            <a:r>
              <a:rPr>
                <a:solidFill>
                  <a:srgbClr val="7D9029"/>
                </a:solidFill>
                <a:latin typeface="Courier"/>
              </a:rPr>
              <a:t>-s</a:t>
            </a:r>
            <a:r>
              <a:rPr>
                <a:latin typeface="Courier"/>
              </a:rPr>
              <a:t> </a:t>
            </a:r>
            <a:r>
              <a:rPr>
                <a:solidFill>
                  <a:srgbClr val="7D9029"/>
                </a:solidFill>
                <a:latin typeface="Courier"/>
              </a:rPr>
              <a:t>--self-contained</a:t>
            </a:r>
            <a:r>
              <a:rPr>
                <a:latin typeface="Courier"/>
              </a:rPr>
              <a:t> </a:t>
            </a:r>
            <a:r>
              <a:rPr>
                <a:solidFill>
                  <a:srgbClr val="7D9029"/>
                </a:solidFill>
                <a:latin typeface="Courier"/>
              </a:rPr>
              <a:t>-o</a:t>
            </a:r>
            <a:r>
              <a:rPr>
                <a:latin typeface="Courier"/>
              </a:rPr>
              <a:t> presentation.html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Pandoc PDF 제작</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LaTeX Beamer 연동</a:t>
            </a:r>
          </a:p>
        </p:txBody>
      </p:sp>
      <p:sp>
        <p:nvSpPr>
          <p:cNvPr id="3" name="Content Placeholder 2"/>
          <p:cNvSpPr>
            <a:spLocks noGrp="1"/>
          </p:cNvSpPr>
          <p:nvPr>
            <p:ph idx="1"/>
          </p:nvPr>
        </p:nvSpPr>
        <p:spPr/>
        <p:txBody>
          <a:bodyPr>
            <a:normAutofit fontScale="77500" lnSpcReduction="20000"/>
          </a:bodyPr>
          <a:lstStyle/>
          <a:p>
            <a:pPr lvl="0"/>
            <a:r>
              <a:rPr b="1"/>
              <a:t>고품질 PDF 생성:</a:t>
            </a:r>
            <a:r>
              <a:t> Pandoc은 LaTeX Beamer를 통해 전문적인 조판 품질의 PDF 슬라이드를 제작함</a:t>
            </a:r>
          </a:p>
          <a:p>
            <a:pPr lvl="0"/>
            <a:r>
              <a:rPr b="1"/>
              <a:t>LaTeX 설치 필수:</a:t>
            </a:r>
            <a:r>
              <a:t> 이 기능을 사용하려면 시스템에 </a:t>
            </a:r>
            <a:r>
              <a:rPr>
                <a:latin typeface="Courier"/>
              </a:rPr>
              <a:t>pdflatex</a:t>
            </a:r>
            <a:r>
              <a:t> 같은 LaTeX 엔진이 설치되어야 함</a:t>
            </a:r>
          </a:p>
          <a:p>
            <a:pPr lvl="0"/>
            <a:r>
              <a:rPr b="1"/>
              <a:t>테마 적용:</a:t>
            </a:r>
            <a:r>
              <a:t> </a:t>
            </a:r>
            <a:r>
              <a:rPr>
                <a:latin typeface="Courier"/>
              </a:rPr>
              <a:t>-V theme=Warsaw</a:t>
            </a:r>
            <a:r>
              <a:t>와 같이 변수(</a:t>
            </a:r>
            <a:r>
              <a:rPr>
                <a:latin typeface="Courier"/>
              </a:rPr>
              <a:t>-V</a:t>
            </a:r>
            <a:r>
              <a:t>)를 이용해 다양한 Beamer 테마를 적용함</a:t>
            </a:r>
          </a:p>
          <a:p>
            <a:pPr lvl="0"/>
            <a:r>
              <a:rPr b="1"/>
              <a:t>PDF 옵션 제어:</a:t>
            </a:r>
            <a:r>
              <a:t> </a:t>
            </a:r>
            <a:r>
              <a:rPr>
                <a:latin typeface="Courier"/>
              </a:rPr>
              <a:t>documentclass</a:t>
            </a:r>
            <a:r>
              <a:t>, </a:t>
            </a:r>
            <a:r>
              <a:rPr>
                <a:latin typeface="Courier"/>
              </a:rPr>
              <a:t>fontsize</a:t>
            </a:r>
            <a:r>
              <a:t> 등 LaTeX 관련 변수로 세부 설정 제어 가능</a:t>
            </a:r>
          </a:p>
          <a:p>
            <a:pPr lvl="0"/>
            <a:r>
              <a:rPr b="1"/>
              <a:t>디버깅 팁:</a:t>
            </a:r>
            <a:r>
              <a:t> PDF 변환 실패 시, </a:t>
            </a:r>
            <a:r>
              <a:rPr>
                <a:latin typeface="Courier"/>
              </a:rPr>
              <a:t>-o test.tex</a:t>
            </a:r>
            <a:r>
              <a:t>로 중간 LaTeX 파일을 생성해 오류를 확인할 수 있음</a:t>
            </a:r>
          </a:p>
          <a:p>
            <a:pPr lvl="0" indent="0">
              <a:buNone/>
            </a:pPr>
            <a:r>
              <a:rPr>
                <a:latin typeface="Courier"/>
              </a:rPr>
              <a:t>&lt;변환 과정 인포그래픽&gt;
[slides.md] -&gt; [pandoc -t beamer] -&gt; [slides.tex] -&gt; [pdflatex] -&gt; [slides.pdf]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Marp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통합형 프레젠테이션 생태계</a:t>
            </a:r>
          </a:p>
        </p:txBody>
      </p:sp>
      <p:sp>
        <p:nvSpPr>
          <p:cNvPr id="3" name="Content Placeholder 2"/>
          <p:cNvSpPr>
            <a:spLocks noGrp="1"/>
          </p:cNvSpPr>
          <p:nvPr>
            <p:ph idx="1"/>
          </p:nvPr>
        </p:nvSpPr>
        <p:spPr/>
        <p:txBody>
          <a:bodyPr>
            <a:normAutofit fontScale="85000" lnSpcReduction="10000"/>
          </a:bodyPr>
          <a:lstStyle/>
          <a:p>
            <a:pPr lvl="0"/>
            <a:r>
              <a:rPr b="1"/>
              <a:t>Markdown Presentation Ecosystem:</a:t>
            </a:r>
            <a:r>
              <a:t> 마크다운으로 슬라이드를 만드는 데 필요한 모든 것을 제공함</a:t>
            </a:r>
          </a:p>
          <a:p>
            <a:pPr lvl="0"/>
            <a:r>
              <a:rPr b="1"/>
              <a:t>VS Code 확장 기능:</a:t>
            </a:r>
            <a:r>
              <a:t> 실시간 미리보기를 지원하여 직관적인 슬라이드 작성이 가능함</a:t>
            </a:r>
          </a:p>
          <a:p>
            <a:pPr lvl="0"/>
            <a:r>
              <a:rPr b="1"/>
              <a:t>간편한 내보내기:</a:t>
            </a:r>
            <a:r>
              <a:t> 클릭 몇 번으로 HTML, PDF, PPTX 형식의 파일을 손쉽게 생성</a:t>
            </a:r>
          </a:p>
          <a:p>
            <a:pPr lvl="0"/>
            <a:r>
              <a:rPr b="1"/>
              <a:t>기본 테마 제공:</a:t>
            </a:r>
            <a:r>
              <a:t> </a:t>
            </a:r>
            <a:r>
              <a:rPr>
                <a:latin typeface="Courier"/>
              </a:rPr>
              <a:t>default</a:t>
            </a:r>
            <a:r>
              <a:t>, </a:t>
            </a:r>
            <a:r>
              <a:rPr>
                <a:latin typeface="Courier"/>
              </a:rPr>
              <a:t>gaia</a:t>
            </a:r>
            <a:r>
              <a:t>, </a:t>
            </a:r>
            <a:r>
              <a:rPr>
                <a:latin typeface="Courier"/>
              </a:rPr>
              <a:t>uncover</a:t>
            </a:r>
            <a:r>
              <a:t> 세 가지의 세련된 기본 테마를 내장함</a:t>
            </a:r>
          </a:p>
          <a:p>
            <a:pPr lvl="0"/>
            <a:r>
              <a:rPr b="1"/>
              <a:t>CSS 기반 커스터마이징:</a:t>
            </a:r>
            <a:r>
              <a:t> 자신만의 CSS 파일을 만들어 테마를 확장하거나 새로 만들 수 있음</a:t>
            </a:r>
          </a:p>
          <a:p>
            <a:pPr marL="0" lvl="0" indent="0">
              <a:buNone/>
            </a:pPr>
            <a:r>
              <a:t> </a:t>
            </a:r>
            <a:r>
              <a:rPr b="1"/>
              <a:t>[실무 예시: VS Code에서의 Marp]</a:t>
            </a:r>
            <a:r>
              <a:t> - 좌측에는 마크다운 에디터, 우측에는 실시간으로 렌더링된 슬라이드 미리보기가 표시됨. - 코드 변경 시 즉시 미리보기에 반영되어 생산성이 매우 높음.</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Marp 기본 사용법</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첫 슬라이드 만들기</a:t>
            </a:r>
          </a:p>
        </p:txBody>
      </p:sp>
      <p:sp>
        <p:nvSpPr>
          <p:cNvPr id="3" name="Content Placeholder 2"/>
          <p:cNvSpPr>
            <a:spLocks noGrp="1"/>
          </p:cNvSpPr>
          <p:nvPr>
            <p:ph idx="1"/>
          </p:nvPr>
        </p:nvSpPr>
        <p:spPr/>
        <p:txBody>
          <a:bodyPr>
            <a:normAutofit fontScale="40000" lnSpcReduction="20000"/>
          </a:bodyPr>
          <a:lstStyle/>
          <a:p>
            <a:pPr lvl="0"/>
            <a:r>
              <a:rPr b="1"/>
              <a:t>Marp 활성화:</a:t>
            </a:r>
            <a:r>
              <a:t> YAML Front Matter에 </a:t>
            </a:r>
            <a:r>
              <a:rPr>
                <a:latin typeface="Courier"/>
              </a:rPr>
              <a:t>marp: true</a:t>
            </a:r>
            <a:r>
              <a:t>를 추가하여 Marp 렌더링 엔진을 활성화함</a:t>
            </a:r>
          </a:p>
          <a:p>
            <a:pPr lvl="0"/>
            <a:r>
              <a:rPr b="1"/>
              <a:t>슬라이드 나누기:</a:t>
            </a:r>
            <a:r>
              <a:t> </a:t>
            </a:r>
            <a:r>
              <a:rPr>
                <a:latin typeface="Courier"/>
              </a:rPr>
              <a:t>---</a:t>
            </a:r>
            <a:r>
              <a:t> 구분자를 사용하여 새로운 슬라이드 페이지를 생성함</a:t>
            </a:r>
          </a:p>
          <a:p>
            <a:pPr lvl="0"/>
            <a:r>
              <a:rPr b="1"/>
              <a:t>콘텐츠 작성:</a:t>
            </a:r>
            <a:r>
              <a:t> 표준 마크다운 문법을 그대로 사용하여 슬라이드 내용을 자유롭게 작성</a:t>
            </a:r>
          </a:p>
          <a:p>
            <a:pPr lvl="0"/>
            <a:r>
              <a:rPr b="1"/>
              <a:t>실시간 미리보기:</a:t>
            </a:r>
            <a:r>
              <a:t> VS Code에서 미리보기 창을 열어 작업 결과를 즉시 확인</a:t>
            </a:r>
          </a:p>
          <a:p>
            <a:pPr lvl="0"/>
            <a:r>
              <a:rPr b="1"/>
              <a:t>테마 지정:</a:t>
            </a:r>
            <a:r>
              <a:t> </a:t>
            </a:r>
            <a:r>
              <a:rPr>
                <a:latin typeface="Courier"/>
              </a:rPr>
              <a:t>theme: gaia</a:t>
            </a:r>
            <a:r>
              <a:t>와 같이 Front Matter에 테마 이름을 지정하여 디자인 적용</a:t>
            </a:r>
          </a:p>
          <a:p>
            <a:pPr marL="0" lvl="0" indent="0">
              <a:buNone/>
            </a:pPr>
            <a:r>
              <a:t> </a:t>
            </a:r>
            <a:r>
              <a:rPr b="1"/>
              <a:t>[실무 예시: 최소 Marp 문서]</a:t>
            </a:r>
          </a:p>
          <a:p>
            <a:pPr lvl="0" indent="0">
              <a:buNone/>
            </a:pPr>
            <a:r>
              <a:rPr i="1">
                <a:solidFill>
                  <a:srgbClr val="60A0B0"/>
                </a:solidFill>
                <a:latin typeface="Courier"/>
              </a:rPr>
              <a:t>---</a:t>
            </a:r>
            <a:br/>
            <a:r>
              <a:rPr b="1" i="1">
                <a:solidFill>
                  <a:srgbClr val="60A0B0"/>
                </a:solidFill>
                <a:latin typeface="Courier"/>
              </a:rPr>
              <a:t>marp:</a:t>
            </a:r>
            <a:r>
              <a:rPr i="1">
                <a:solidFill>
                  <a:srgbClr val="60A0B0"/>
                </a:solidFill>
                <a:latin typeface="Courier"/>
              </a:rPr>
              <a:t> true</a:t>
            </a:r>
            <a:br/>
            <a:r>
              <a:rPr b="1" i="1">
                <a:solidFill>
                  <a:srgbClr val="60A0B0"/>
                </a:solidFill>
                <a:latin typeface="Courier"/>
              </a:rPr>
              <a:t>theme:</a:t>
            </a:r>
            <a:r>
              <a:rPr i="1">
                <a:solidFill>
                  <a:srgbClr val="60A0B0"/>
                </a:solidFill>
                <a:latin typeface="Courier"/>
              </a:rPr>
              <a:t> gaia</a:t>
            </a:r>
            <a:br/>
            <a:r>
              <a:rPr i="1">
                <a:solidFill>
                  <a:srgbClr val="60A0B0"/>
                </a:solidFill>
                <a:latin typeface="Courier"/>
              </a:rPr>
              <a:t>---</a:t>
            </a:r>
            <a:br/>
            <a:br/>
            <a:r>
              <a:rPr>
                <a:solidFill>
                  <a:srgbClr val="06287E"/>
                </a:solidFill>
                <a:latin typeface="Courier"/>
              </a:rPr>
              <a:t># 첫 번째 슬라이드</a:t>
            </a:r>
            <a:br/>
            <a:r>
              <a:rPr>
                <a:solidFill>
                  <a:srgbClr val="BB6688"/>
                </a:solidFill>
                <a:latin typeface="Courier"/>
              </a:rPr>
              <a:t>- </a:t>
            </a:r>
            <a:r>
              <a:rPr>
                <a:latin typeface="Courier"/>
              </a:rPr>
              <a:t>Marp는 매우 간단합니다.</a:t>
            </a:r>
            <a:br/>
            <a:br/>
            <a:r>
              <a:rPr>
                <a:latin typeface="Courier"/>
              </a:rPr>
              <a:t>---</a:t>
            </a:r>
            <a:br/>
            <a:br/>
            <a:r>
              <a:rPr>
                <a:solidFill>
                  <a:srgbClr val="06287E"/>
                </a:solidFill>
                <a:latin typeface="Courier"/>
              </a:rPr>
              <a:t># 두 번째 슬라이드</a:t>
            </a:r>
            <a:br/>
            <a:r>
              <a:rPr>
                <a:solidFill>
                  <a:srgbClr val="BB6688"/>
                </a:solidFill>
                <a:latin typeface="Courier"/>
              </a:rPr>
              <a:t>- </a:t>
            </a:r>
            <a:r>
              <a:rPr>
                <a:latin typeface="Courier"/>
              </a:rPr>
              <a:t>슬라이드는 --- 로 구분합니다.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Marp 테마와 스타일링</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슬라이드 디자인 맞춤 설정</a:t>
            </a:r>
          </a:p>
        </p:txBody>
      </p:sp>
      <p:graphicFrame>
        <p:nvGraphicFramePr>
          <p:cNvPr id="6" name="Content Placeholder 5"/>
          <p:cNvGraphicFramePr>
            <a:graphicFrameLocks noGrp="1"/>
          </p:cNvGraphicFramePr>
          <p:nvPr>
            <p:ph idx="1"/>
          </p:nvPr>
        </p:nvGraphicFramePr>
        <p:xfrm>
          <a:off x="3568700" y="203200"/>
          <a:ext cx="5105400" cy="2811780"/>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0">
                <a:tc>
                  <a:txBody>
                    <a:bodyPr/>
                    <a:lstStyle/>
                    <a:p>
                      <a:pPr marL="0" lvl="0" indent="0" algn="l">
                        <a:buNone/>
                      </a:pPr>
                      <a:r>
                        <a:t>지시자(Directive)</a:t>
                      </a:r>
                    </a:p>
                  </a:txBody>
                  <a:tcPr/>
                </a:tc>
                <a:tc>
                  <a:txBody>
                    <a:bodyPr/>
                    <a:lstStyle/>
                    <a:p>
                      <a:pPr marL="0" lvl="0" indent="0" algn="l">
                        <a:buNone/>
                      </a:pPr>
                      <a:r>
                        <a:t>설명</a:t>
                      </a:r>
                    </a:p>
                  </a:txBody>
                  <a:tcPr/>
                </a:tc>
                <a:tc>
                  <a:txBody>
                    <a:bodyPr/>
                    <a:lstStyle/>
                    <a:p>
                      <a:pPr marL="0" lvl="0" indent="0" algn="l">
                        <a:buNone/>
                      </a:pPr>
                      <a:r>
                        <a:t>예시</a:t>
                      </a:r>
                    </a:p>
                  </a:txBody>
                  <a:tcPr/>
                </a:tc>
                <a:extLst>
                  <a:ext uri="{0D108BD9-81ED-4DB2-BD59-A6C34878D82A}">
                    <a16:rowId xmlns:a16="http://schemas.microsoft.com/office/drawing/2014/main" val="10000"/>
                  </a:ext>
                </a:extLst>
              </a:tr>
              <a:tr h="0">
                <a:tc>
                  <a:txBody>
                    <a:bodyPr/>
                    <a:lstStyle/>
                    <a:p>
                      <a:pPr marL="0" lvl="0" indent="0" algn="l">
                        <a:buNone/>
                      </a:pPr>
                      <a:r>
                        <a:rPr>
                          <a:latin typeface="Courier"/>
                        </a:rPr>
                        <a:t>theme</a:t>
                      </a:r>
                    </a:p>
                  </a:txBody>
                  <a:tcPr/>
                </a:tc>
                <a:tc>
                  <a:txBody>
                    <a:bodyPr/>
                    <a:lstStyle/>
                    <a:p>
                      <a:pPr marL="0" lvl="0" indent="0" algn="l">
                        <a:buNone/>
                      </a:pPr>
                      <a:r>
                        <a:t>사용할 테마를 지정함</a:t>
                      </a:r>
                    </a:p>
                  </a:txBody>
                  <a:tcPr/>
                </a:tc>
                <a:tc>
                  <a:txBody>
                    <a:bodyPr/>
                    <a:lstStyle/>
                    <a:p>
                      <a:pPr marL="0" lvl="0" indent="0" algn="l">
                        <a:buNone/>
                      </a:pPr>
                      <a:r>
                        <a:rPr>
                          <a:latin typeface="Courier"/>
                        </a:rPr>
                        <a:t>theme: uncover</a:t>
                      </a:r>
                    </a:p>
                  </a:txBody>
                  <a:tcPr/>
                </a:tc>
                <a:extLst>
                  <a:ext uri="{0D108BD9-81ED-4DB2-BD59-A6C34878D82A}">
                    <a16:rowId xmlns:a16="http://schemas.microsoft.com/office/drawing/2014/main" val="10001"/>
                  </a:ext>
                </a:extLst>
              </a:tr>
              <a:tr h="0">
                <a:tc>
                  <a:txBody>
                    <a:bodyPr/>
                    <a:lstStyle/>
                    <a:p>
                      <a:pPr marL="0" lvl="0" indent="0" algn="l">
                        <a:buNone/>
                      </a:pPr>
                      <a:r>
                        <a:rPr>
                          <a:latin typeface="Courier"/>
                        </a:rPr>
                        <a:t>class</a:t>
                      </a:r>
                    </a:p>
                  </a:txBody>
                  <a:tcPr/>
                </a:tc>
                <a:tc>
                  <a:txBody>
                    <a:bodyPr/>
                    <a:lstStyle/>
                    <a:p>
                      <a:pPr marL="0" lvl="0" indent="0" algn="l">
                        <a:buNone/>
                      </a:pPr>
                      <a:r>
                        <a:t>슬라이드 전체에 적용할 클래스</a:t>
                      </a:r>
                    </a:p>
                  </a:txBody>
                  <a:tcPr/>
                </a:tc>
                <a:tc>
                  <a:txBody>
                    <a:bodyPr/>
                    <a:lstStyle/>
                    <a:p>
                      <a:pPr marL="0" lvl="0" indent="0" algn="l">
                        <a:buNone/>
                      </a:pPr>
                      <a:r>
                        <a:rPr>
                          <a:latin typeface="Courier"/>
                        </a:rPr>
                        <a:t>class: invert</a:t>
                      </a:r>
                    </a:p>
                  </a:txBody>
                  <a:tcPr/>
                </a:tc>
                <a:extLst>
                  <a:ext uri="{0D108BD9-81ED-4DB2-BD59-A6C34878D82A}">
                    <a16:rowId xmlns:a16="http://schemas.microsoft.com/office/drawing/2014/main" val="10002"/>
                  </a:ext>
                </a:extLst>
              </a:tr>
              <a:tr h="0">
                <a:tc>
                  <a:txBody>
                    <a:bodyPr/>
                    <a:lstStyle/>
                    <a:p>
                      <a:pPr marL="0" lvl="0" indent="0" algn="l">
                        <a:buNone/>
                      </a:pPr>
                      <a:r>
                        <a:rPr>
                          <a:latin typeface="Courier"/>
                        </a:rPr>
                        <a:t>paginate</a:t>
                      </a:r>
                    </a:p>
                  </a:txBody>
                  <a:tcPr/>
                </a:tc>
                <a:tc>
                  <a:txBody>
                    <a:bodyPr/>
                    <a:lstStyle/>
                    <a:p>
                      <a:pPr marL="0" lvl="0" indent="0" algn="l">
                        <a:buNone/>
                      </a:pPr>
                      <a:r>
                        <a:t>슬라이드에 페이지 번호를 표시함</a:t>
                      </a:r>
                    </a:p>
                  </a:txBody>
                  <a:tcPr/>
                </a:tc>
                <a:tc>
                  <a:txBody>
                    <a:bodyPr/>
                    <a:lstStyle/>
                    <a:p>
                      <a:pPr marL="0" lvl="0" indent="0" algn="l">
                        <a:buNone/>
                      </a:pPr>
                      <a:r>
                        <a:rPr>
                          <a:latin typeface="Courier"/>
                        </a:rPr>
                        <a:t>paginate: true</a:t>
                      </a:r>
                    </a:p>
                  </a:txBody>
                  <a:tcPr/>
                </a:tc>
                <a:extLst>
                  <a:ext uri="{0D108BD9-81ED-4DB2-BD59-A6C34878D82A}">
                    <a16:rowId xmlns:a16="http://schemas.microsoft.com/office/drawing/2014/main" val="10003"/>
                  </a:ext>
                </a:extLst>
              </a:tr>
              <a:tr h="0">
                <a:tc>
                  <a:txBody>
                    <a:bodyPr/>
                    <a:lstStyle/>
                    <a:p>
                      <a:pPr marL="0" lvl="0" indent="0" algn="l">
                        <a:buNone/>
                      </a:pPr>
                      <a:r>
                        <a:rPr>
                          <a:latin typeface="Courier"/>
                        </a:rPr>
                        <a:t>backgroundColor</a:t>
                      </a:r>
                    </a:p>
                  </a:txBody>
                  <a:tcPr/>
                </a:tc>
                <a:tc>
                  <a:txBody>
                    <a:bodyPr/>
                    <a:lstStyle/>
                    <a:p>
                      <a:pPr marL="0" lvl="0" indent="0" algn="l">
                        <a:buNone/>
                      </a:pPr>
                      <a:r>
                        <a:t>전체 슬라이드의 배경색 지정</a:t>
                      </a:r>
                    </a:p>
                  </a:txBody>
                  <a:tcPr/>
                </a:tc>
                <a:tc>
                  <a:txBody>
                    <a:bodyPr/>
                    <a:lstStyle/>
                    <a:p>
                      <a:pPr marL="0" lvl="0" indent="0" algn="l">
                        <a:buNone/>
                      </a:pPr>
                      <a:r>
                        <a:rPr>
                          <a:latin typeface="Courier"/>
                        </a:rPr>
                        <a:t>backgroundColor: #f0f0f0</a:t>
                      </a:r>
                    </a:p>
                  </a:txBody>
                  <a:tcPr/>
                </a:tc>
                <a:extLst>
                  <a:ext uri="{0D108BD9-81ED-4DB2-BD59-A6C34878D82A}">
                    <a16:rowId xmlns:a16="http://schemas.microsoft.com/office/drawing/2014/main" val="10004"/>
                  </a:ext>
                </a:extLst>
              </a:tr>
              <a:tr h="0">
                <a:tc>
                  <a:txBody>
                    <a:bodyPr/>
                    <a:lstStyle/>
                    <a:p>
                      <a:pPr marL="0" lvl="0" indent="0" algn="l">
                        <a:buNone/>
                      </a:pPr>
                      <a:r>
                        <a:rPr>
                          <a:latin typeface="Courier"/>
                        </a:rPr>
                        <a:t>backgroundImage</a:t>
                      </a:r>
                    </a:p>
                  </a:txBody>
                  <a:tcPr/>
                </a:tc>
                <a:tc>
                  <a:txBody>
                    <a:bodyPr/>
                    <a:lstStyle/>
                    <a:p>
                      <a:pPr marL="0" lvl="0" indent="0" algn="l">
                        <a:buNone/>
                      </a:pPr>
                      <a:r>
                        <a:t>전체 슬라이드의 배경 이미지 지정</a:t>
                      </a:r>
                    </a:p>
                  </a:txBody>
                  <a:tcPr/>
                </a:tc>
                <a:tc>
                  <a:txBody>
                    <a:bodyPr/>
                    <a:lstStyle/>
                    <a:p>
                      <a:pPr marL="0" lvl="0" indent="0" algn="l">
                        <a:buNone/>
                      </a:pPr>
                      <a:r>
                        <a:rPr>
                          <a:latin typeface="Courier"/>
                        </a:rPr>
                        <a:t>backgroundImage: url(...)</a:t>
                      </a:r>
                    </a:p>
                  </a:txBody>
                  <a:tcPr/>
                </a:tc>
                <a:extLst>
                  <a:ext uri="{0D108BD9-81ED-4DB2-BD59-A6C34878D82A}">
                    <a16:rowId xmlns:a16="http://schemas.microsoft.com/office/drawing/2014/main" val="10005"/>
                  </a:ext>
                </a:extLst>
              </a:tr>
            </a:tbl>
          </a:graphicData>
        </a:graphic>
      </p:graphicFrame>
      <p:sp>
        <p:nvSpPr>
          <p:cNvPr id="4" name="Text Placeholder 3"/>
          <p:cNvSpPr>
            <a:spLocks noGrp="1"/>
          </p:cNvSpPr>
          <p:nvPr>
            <p:ph type="body" sz="half" idx="2"/>
          </p:nvPr>
        </p:nvSpPr>
        <p:spPr/>
        <p:txBody>
          <a:bodyPr>
            <a:normAutofit fontScale="55000" lnSpcReduction="20000"/>
          </a:bodyPr>
          <a:lstStyle/>
          <a:p>
            <a:pPr lvl="0"/>
            <a:r>
              <a:rPr b="1"/>
              <a:t>기본 테마:</a:t>
            </a:r>
            <a:r>
              <a:t> </a:t>
            </a:r>
            <a:r>
              <a:rPr>
                <a:latin typeface="Courier"/>
              </a:rPr>
              <a:t>default</a:t>
            </a:r>
            <a:r>
              <a:t>, </a:t>
            </a:r>
            <a:r>
              <a:rPr>
                <a:latin typeface="Courier"/>
              </a:rPr>
              <a:t>gaia</a:t>
            </a:r>
            <a:r>
              <a:t>, </a:t>
            </a:r>
            <a:r>
              <a:rPr>
                <a:latin typeface="Courier"/>
              </a:rPr>
              <a:t>uncover</a:t>
            </a:r>
            <a:r>
              <a:t> 세 가지 기본 테마를 즉시 사용 가능함</a:t>
            </a:r>
          </a:p>
          <a:p>
            <a:pPr lvl="0"/>
            <a:r>
              <a:rPr b="1"/>
              <a:t>색상 반전:</a:t>
            </a:r>
            <a:r>
              <a:t> </a:t>
            </a:r>
            <a:r>
              <a:rPr>
                <a:latin typeface="Courier"/>
              </a:rPr>
              <a:t>class: invert</a:t>
            </a:r>
            <a:r>
              <a:t> 지시자를 추가하여 어두운 배경의 반전 테마를 쉽게 적용함</a:t>
            </a:r>
          </a:p>
          <a:p>
            <a:pPr lvl="0"/>
            <a:r>
              <a:rPr b="1"/>
              <a:t>사용자 정의 CSS:</a:t>
            </a:r>
            <a:r>
              <a:t> 나만의 </a:t>
            </a:r>
            <a:r>
              <a:rPr>
                <a:latin typeface="Courier"/>
              </a:rPr>
              <a:t>.css</a:t>
            </a:r>
            <a:r>
              <a:t> 파일을 만들어 </a:t>
            </a:r>
            <a:r>
              <a:rPr>
                <a:latin typeface="Courier"/>
              </a:rPr>
              <a:t>theme</a:t>
            </a:r>
            <a:r>
              <a:t> 속성에 지정하여 사용할 수 있음</a:t>
            </a:r>
          </a:p>
          <a:p>
            <a:pPr lvl="0"/>
            <a:r>
              <a:rPr b="1"/>
              <a:t>인라인 스타일:</a:t>
            </a:r>
            <a:r>
              <a:t> </a:t>
            </a:r>
            <a:r>
              <a:rPr>
                <a:latin typeface="Courier"/>
              </a:rPr>
              <a:t>&lt;style&gt;</a:t>
            </a:r>
            <a:r>
              <a:t> 태그를 마크다운 내에 직접 삽입하여 특정 요소의 스타일을 수정함</a:t>
            </a:r>
          </a:p>
          <a:p>
            <a:pPr lvl="0"/>
            <a:r>
              <a:rPr b="1"/>
              <a:t>글로벌 지시자:</a:t>
            </a:r>
            <a:r>
              <a:t> Front Matter에 </a:t>
            </a:r>
            <a:r>
              <a:rPr>
                <a:latin typeface="Courier"/>
              </a:rPr>
              <a:t>class</a:t>
            </a:r>
            <a:r>
              <a:t>, </a:t>
            </a:r>
            <a:r>
              <a:rPr>
                <a:latin typeface="Courier"/>
              </a:rPr>
              <a:t>paginate</a:t>
            </a:r>
            <a:r>
              <a:t> 등을 설정하여 전체 슬라이드에 일괄 적용</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Marp 고급 스타일링</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슬라이드별 디자인 제어</a:t>
            </a:r>
          </a:p>
        </p:txBody>
      </p:sp>
      <p:sp>
        <p:nvSpPr>
          <p:cNvPr id="3" name="Content Placeholder 2"/>
          <p:cNvSpPr>
            <a:spLocks noGrp="1"/>
          </p:cNvSpPr>
          <p:nvPr>
            <p:ph idx="1"/>
          </p:nvPr>
        </p:nvSpPr>
        <p:spPr/>
        <p:txBody>
          <a:bodyPr>
            <a:normAutofit fontScale="70000" lnSpcReduction="20000"/>
          </a:bodyPr>
          <a:lstStyle/>
          <a:p>
            <a:pPr lvl="0"/>
            <a:r>
              <a:rPr b="1"/>
              <a:t>지역(Local) 지시자:</a:t>
            </a:r>
            <a:r>
              <a:t> 특정 슬라이드에만 스타일을 적용하기 위해 주석 문법을 활용함</a:t>
            </a:r>
          </a:p>
          <a:p>
            <a:pPr lvl="0"/>
            <a:r>
              <a:rPr b="1"/>
              <a:t>단일 슬라이드 스타일:</a:t>
            </a:r>
            <a:r>
              <a:t> </a:t>
            </a:r>
            <a:r>
              <a:rPr>
                <a:latin typeface="Courier"/>
              </a:rPr>
              <a:t>&lt;!-- _class: lead --&gt;</a:t>
            </a:r>
            <a:r>
              <a:t>는 해당 슬라이드에만 </a:t>
            </a:r>
            <a:r>
              <a:rPr>
                <a:latin typeface="Courier"/>
              </a:rPr>
              <a:t>lead</a:t>
            </a:r>
            <a:r>
              <a:t> 클래스를 적용함</a:t>
            </a:r>
          </a:p>
          <a:p>
            <a:pPr lvl="0"/>
            <a:r>
              <a:rPr b="1"/>
              <a:t>이후 모든 슬라이드 스타일:</a:t>
            </a:r>
            <a:r>
              <a:t> </a:t>
            </a:r>
            <a:r>
              <a:rPr>
                <a:latin typeface="Courier"/>
              </a:rPr>
              <a:t>&lt;!-- class: invert --&gt;</a:t>
            </a:r>
            <a:r>
              <a:t>는 현재 슬라이드부터 끝까지 </a:t>
            </a:r>
            <a:r>
              <a:rPr>
                <a:latin typeface="Courier"/>
              </a:rPr>
              <a:t>invert</a:t>
            </a:r>
            <a:r>
              <a:t> 클래스 적용</a:t>
            </a:r>
          </a:p>
          <a:p>
            <a:pPr lvl="0"/>
            <a:r>
              <a:rPr b="1"/>
              <a:t>HTML 활성화:</a:t>
            </a:r>
            <a:r>
              <a:t> VS Code 설정에서 HTML 렌더링을 활성화하면 </a:t>
            </a:r>
            <a:r>
              <a:rPr>
                <a:latin typeface="Courier"/>
              </a:rPr>
              <a:t>&lt;div&gt;</a:t>
            </a:r>
            <a:r>
              <a:t>, </a:t>
            </a:r>
            <a:r>
              <a:rPr>
                <a:latin typeface="Courier"/>
              </a:rPr>
              <a:t>&lt;span&gt;</a:t>
            </a:r>
            <a:r>
              <a:t> 등 사용 가능</a:t>
            </a:r>
          </a:p>
          <a:p>
            <a:pPr lvl="0"/>
            <a:r>
              <a:rPr b="1"/>
              <a:t>배경 이미지 제어:</a:t>
            </a:r>
            <a:r>
              <a:t> </a:t>
            </a:r>
            <a:r>
              <a:rPr>
                <a:latin typeface="Courier"/>
              </a:rPr>
              <a:t>![bg left:40%]</a:t>
            </a:r>
            <a:r>
              <a:t>와 같이 이미지 위치, 크기, 필터 효과 등을 개별 지정</a:t>
            </a:r>
          </a:p>
          <a:p>
            <a:pPr marL="0" lvl="0" indent="0">
              <a:buNone/>
            </a:pPr>
            <a:r>
              <a:t> </a:t>
            </a:r>
            <a:r>
              <a:rPr b="1"/>
              <a:t>[실무 예시: 특정 슬라이드 강조]</a:t>
            </a:r>
          </a:p>
          <a:p>
            <a:pPr lvl="0" indent="0">
              <a:buNone/>
            </a:pPr>
            <a:r>
              <a:rPr i="1">
                <a:solidFill>
                  <a:srgbClr val="60A0B0"/>
                </a:solidFill>
                <a:latin typeface="Courier"/>
              </a:rPr>
              <a:t>---</a:t>
            </a:r>
            <a:br/>
            <a:r>
              <a:rPr i="1">
                <a:solidFill>
                  <a:srgbClr val="60A0B0"/>
                </a:solidFill>
                <a:latin typeface="Courier"/>
              </a:rPr>
              <a:t>&lt;!-- _class: lead gaia --&gt;</a:t>
            </a:r>
            <a:br/>
            <a:br/>
            <a:r>
              <a:rPr i="1">
                <a:solidFill>
                  <a:srgbClr val="60A0B0"/>
                </a:solidFill>
                <a:latin typeface="Courier"/>
              </a:rPr>
              <a:t>## 📌 옴니보어: 다양한 취향의 '잡식성 소비자'</a:t>
            </a:r>
            <a:br/>
            <a:r>
              <a:rPr i="1">
                <a:solidFill>
                  <a:srgbClr val="60A0B0"/>
                </a:solidFill>
                <a:latin typeface="Courier"/>
              </a:rPr>
              <a:t>현대 소비자는 세대, 계층, 성별에 묶이지 않습니다.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시각 자료 활용</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이미지와 배경 삽입</a:t>
            </a:r>
          </a:p>
        </p:txBody>
      </p:sp>
      <p:graphicFrame>
        <p:nvGraphicFramePr>
          <p:cNvPr id="6" name="Content Placeholder 5"/>
          <p:cNvGraphicFramePr>
            <a:graphicFrameLocks noGrp="1"/>
          </p:cNvGraphicFramePr>
          <p:nvPr>
            <p:ph idx="1"/>
          </p:nvPr>
        </p:nvGraphicFramePr>
        <p:xfrm>
          <a:off x="3568700" y="203200"/>
          <a:ext cx="5105400" cy="2194560"/>
        </p:xfrm>
        <a:graphic>
          <a:graphicData uri="http://schemas.openxmlformats.org/drawingml/2006/table">
            <a:tbl>
              <a:tblPr firstRow="1" bandRow="1">
                <a:tableStyleId>{5C22544A-7EE6-4342-B048-85BDC9FD1C3A}</a:tableStyleId>
              </a:tblPr>
              <a:tblGrid>
                <a:gridCol w="25527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tblGrid>
              <a:tr h="0">
                <a:tc>
                  <a:txBody>
                    <a:bodyPr/>
                    <a:lstStyle/>
                    <a:p>
                      <a:pPr marL="0" lvl="0" indent="0" algn="l">
                        <a:buNone/>
                      </a:pPr>
                      <a:r>
                        <a:rPr>
                          <a:latin typeface="Courier"/>
                        </a:rPr>
                        <a:t>![bg]</a:t>
                      </a:r>
                      <a:r>
                        <a:t> 태그 옵션</a:t>
                      </a:r>
                    </a:p>
                  </a:txBody>
                  <a:tcPr/>
                </a:tc>
                <a:tc>
                  <a:txBody>
                    <a:bodyPr/>
                    <a:lstStyle/>
                    <a:p>
                      <a:pPr marL="0" lvl="0" indent="0" algn="l">
                        <a:buNone/>
                      </a:pPr>
                      <a:r>
                        <a:t>설명</a:t>
                      </a:r>
                    </a:p>
                  </a:txBody>
                  <a:tcPr/>
                </a:tc>
                <a:extLst>
                  <a:ext uri="{0D108BD9-81ED-4DB2-BD59-A6C34878D82A}">
                    <a16:rowId xmlns:a16="http://schemas.microsoft.com/office/drawing/2014/main" val="10000"/>
                  </a:ext>
                </a:extLst>
              </a:tr>
              <a:tr h="0">
                <a:tc>
                  <a:txBody>
                    <a:bodyPr/>
                    <a:lstStyle/>
                    <a:p>
                      <a:pPr marL="0" lvl="0" indent="0" algn="l">
                        <a:buNone/>
                      </a:pPr>
                      <a:r>
                        <a:rPr>
                          <a:latin typeface="Courier"/>
                        </a:rPr>
                        <a:t>right</a:t>
                      </a:r>
                      <a:r>
                        <a:t> / </a:t>
                      </a:r>
                      <a:r>
                        <a:rPr>
                          <a:latin typeface="Courier"/>
                        </a:rPr>
                        <a:t>left</a:t>
                      </a:r>
                    </a:p>
                  </a:txBody>
                  <a:tcPr/>
                </a:tc>
                <a:tc>
                  <a:txBody>
                    <a:bodyPr/>
                    <a:lstStyle/>
                    <a:p>
                      <a:pPr marL="0" lvl="0" indent="0" algn="l">
                        <a:buNone/>
                      </a:pPr>
                      <a:r>
                        <a:t>이미지를 오른쪽 또는 왼쪽에 정렬함</a:t>
                      </a:r>
                    </a:p>
                  </a:txBody>
                  <a:tcPr/>
                </a:tc>
                <a:extLst>
                  <a:ext uri="{0D108BD9-81ED-4DB2-BD59-A6C34878D82A}">
                    <a16:rowId xmlns:a16="http://schemas.microsoft.com/office/drawing/2014/main" val="10001"/>
                  </a:ext>
                </a:extLst>
              </a:tr>
              <a:tr h="0">
                <a:tc>
                  <a:txBody>
                    <a:bodyPr/>
                    <a:lstStyle/>
                    <a:p>
                      <a:pPr marL="0" lvl="0" indent="0" algn="l">
                        <a:buNone/>
                      </a:pPr>
                      <a:r>
                        <a:rPr>
                          <a:latin typeface="Courier"/>
                        </a:rPr>
                        <a:t>:X%</a:t>
                      </a:r>
                    </a:p>
                  </a:txBody>
                  <a:tcPr/>
                </a:tc>
                <a:tc>
                  <a:txBody>
                    <a:bodyPr/>
                    <a:lstStyle/>
                    <a:p>
                      <a:pPr marL="0" lvl="0" indent="0" algn="l">
                        <a:buNone/>
                      </a:pPr>
                      <a:r>
                        <a:t>이미지 크기를 슬라이드 너비의 X%로 설정함</a:t>
                      </a:r>
                    </a:p>
                  </a:txBody>
                  <a:tcPr/>
                </a:tc>
                <a:extLst>
                  <a:ext uri="{0D108BD9-81ED-4DB2-BD59-A6C34878D82A}">
                    <a16:rowId xmlns:a16="http://schemas.microsoft.com/office/drawing/2014/main" val="10002"/>
                  </a:ext>
                </a:extLst>
              </a:tr>
              <a:tr h="0">
                <a:tc>
                  <a:txBody>
                    <a:bodyPr/>
                    <a:lstStyle/>
                    <a:p>
                      <a:pPr marL="0" lvl="0" indent="0" algn="l">
                        <a:buNone/>
                      </a:pPr>
                      <a:r>
                        <a:rPr>
                          <a:latin typeface="Courier"/>
                        </a:rPr>
                        <a:t>grayscale</a:t>
                      </a:r>
                    </a:p>
                  </a:txBody>
                  <a:tcPr/>
                </a:tc>
                <a:tc>
                  <a:txBody>
                    <a:bodyPr/>
                    <a:lstStyle/>
                    <a:p>
                      <a:pPr marL="0" lvl="0" indent="0" algn="l">
                        <a:buNone/>
                      </a:pPr>
                      <a:r>
                        <a:t>이미지를 흑백으로 변환함</a:t>
                      </a:r>
                    </a:p>
                  </a:txBody>
                  <a:tcPr/>
                </a:tc>
                <a:extLst>
                  <a:ext uri="{0D108BD9-81ED-4DB2-BD59-A6C34878D82A}">
                    <a16:rowId xmlns:a16="http://schemas.microsoft.com/office/drawing/2014/main" val="10003"/>
                  </a:ext>
                </a:extLst>
              </a:tr>
              <a:tr h="0">
                <a:tc>
                  <a:txBody>
                    <a:bodyPr/>
                    <a:lstStyle/>
                    <a:p>
                      <a:pPr marL="0" lvl="0" indent="0" algn="l">
                        <a:buNone/>
                      </a:pPr>
                      <a:r>
                        <a:rPr>
                          <a:latin typeface="Courier"/>
                        </a:rPr>
                        <a:t>blur</a:t>
                      </a:r>
                    </a:p>
                  </a:txBody>
                  <a:tcPr/>
                </a:tc>
                <a:tc>
                  <a:txBody>
                    <a:bodyPr/>
                    <a:lstStyle/>
                    <a:p>
                      <a:pPr marL="0" lvl="0" indent="0" algn="l">
                        <a:buNone/>
                      </a:pPr>
                      <a:r>
                        <a:t>이미지에 블러 효과를 적용함</a:t>
                      </a:r>
                    </a:p>
                  </a:txBody>
                  <a:tcPr/>
                </a:tc>
                <a:extLst>
                  <a:ext uri="{0D108BD9-81ED-4DB2-BD59-A6C34878D82A}">
                    <a16:rowId xmlns:a16="http://schemas.microsoft.com/office/drawing/2014/main" val="10004"/>
                  </a:ext>
                </a:extLst>
              </a:tr>
              <a:tr h="0">
                <a:tc>
                  <a:txBody>
                    <a:bodyPr/>
                    <a:lstStyle/>
                    <a:p>
                      <a:pPr marL="0" lvl="0" indent="0" algn="l">
                        <a:buNone/>
                      </a:pPr>
                      <a:r>
                        <a:rPr>
                          <a:latin typeface="Courier"/>
                        </a:rPr>
                        <a:t>opacity</a:t>
                      </a:r>
                    </a:p>
                  </a:txBody>
                  <a:tcPr/>
                </a:tc>
                <a:tc>
                  <a:txBody>
                    <a:bodyPr/>
                    <a:lstStyle/>
                    <a:p>
                      <a:pPr marL="0" lvl="0" indent="0" algn="l">
                        <a:buNone/>
                      </a:pPr>
                      <a:r>
                        <a:t>이미지의 투명도를 조절함</a:t>
                      </a:r>
                    </a:p>
                  </a:txBody>
                  <a:tcPr/>
                </a:tc>
                <a:extLst>
                  <a:ext uri="{0D108BD9-81ED-4DB2-BD59-A6C34878D82A}">
                    <a16:rowId xmlns:a16="http://schemas.microsoft.com/office/drawing/2014/main" val="10005"/>
                  </a:ext>
                </a:extLst>
              </a:tr>
            </a:tbl>
          </a:graphicData>
        </a:graphic>
      </p:graphicFrame>
      <p:sp>
        <p:nvSpPr>
          <p:cNvPr id="4" name="Text Placeholder 3"/>
          <p:cNvSpPr>
            <a:spLocks noGrp="1"/>
          </p:cNvSpPr>
          <p:nvPr>
            <p:ph type="body" sz="half" idx="2"/>
          </p:nvPr>
        </p:nvSpPr>
        <p:spPr/>
        <p:txBody>
          <a:bodyPr>
            <a:normAutofit fontScale="55000" lnSpcReduction="20000"/>
          </a:bodyPr>
          <a:lstStyle/>
          <a:p>
            <a:pPr lvl="0"/>
            <a:r>
              <a:rPr b="1"/>
              <a:t>기본 이미지 삽입:</a:t>
            </a:r>
            <a:r>
              <a:t> 표준 마크다운 </a:t>
            </a:r>
            <a:r>
              <a:rPr>
                <a:latin typeface="Courier"/>
              </a:rPr>
              <a:t>![대체 텍스트](경로)</a:t>
            </a:r>
            <a:r>
              <a:t> 문법을 그대로 사용함</a:t>
            </a:r>
          </a:p>
          <a:p>
            <a:pPr lvl="0"/>
            <a:r>
              <a:rPr b="1"/>
              <a:t>배경 이미지:</a:t>
            </a:r>
            <a:r>
              <a:t> Marp의 특별한 </a:t>
            </a:r>
            <a:r>
              <a:rPr>
                <a:latin typeface="Courier"/>
              </a:rPr>
              <a:t>![bg](경로)</a:t>
            </a:r>
            <a:r>
              <a:t> 태그를 사용해 슬라이드 전체 배경을 설정함</a:t>
            </a:r>
          </a:p>
          <a:p>
            <a:pPr lvl="0"/>
            <a:r>
              <a:rPr b="1"/>
              <a:t>배경 위치 조정:</a:t>
            </a:r>
            <a:r>
              <a:t> </a:t>
            </a:r>
            <a:r>
              <a:rPr>
                <a:latin typeface="Courier"/>
              </a:rPr>
              <a:t>![bg left]</a:t>
            </a:r>
            <a:r>
              <a:t> 또는 </a:t>
            </a:r>
            <a:r>
              <a:rPr>
                <a:latin typeface="Courier"/>
              </a:rPr>
              <a:t>![bg right]</a:t>
            </a:r>
            <a:r>
              <a:t> 키워드로 배경 이미지의 좌우 정렬</a:t>
            </a:r>
          </a:p>
          <a:p>
            <a:pPr lvl="0"/>
            <a:r>
              <a:rPr b="1"/>
              <a:t>배경 크기 조절:</a:t>
            </a:r>
            <a:r>
              <a:t> </a:t>
            </a:r>
            <a:r>
              <a:rPr>
                <a:latin typeface="Courier"/>
              </a:rPr>
              <a:t>![bg left:35%]</a:t>
            </a:r>
            <a:r>
              <a:t>처럼 비율을 지정하여 이미지 크기를 세밀하게 조정함</a:t>
            </a:r>
          </a:p>
          <a:p>
            <a:pPr lvl="0"/>
            <a:r>
              <a:rPr b="1"/>
              <a:t>이미지 필터 효과:</a:t>
            </a:r>
            <a:r>
              <a:t> </a:t>
            </a:r>
            <a:r>
              <a:rPr>
                <a:latin typeface="Courier"/>
              </a:rPr>
              <a:t>grayscale</a:t>
            </a:r>
            <a:r>
              <a:t>(흑백), </a:t>
            </a:r>
            <a:r>
              <a:rPr>
                <a:latin typeface="Courier"/>
              </a:rPr>
              <a:t>blur</a:t>
            </a:r>
            <a:r>
              <a:t>(흐림), </a:t>
            </a:r>
            <a:r>
              <a:rPr>
                <a:latin typeface="Courier"/>
              </a:rPr>
              <a:t>opacity</a:t>
            </a:r>
            <a:r>
              <a:t>(투명도) 등 다양한 필터 적용</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시각 자료 활용</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Mermaid 다이어그램</a:t>
            </a:r>
          </a:p>
        </p:txBody>
      </p:sp>
      <p:sp>
        <p:nvSpPr>
          <p:cNvPr id="3" name="Content Placeholder 2"/>
          <p:cNvSpPr>
            <a:spLocks noGrp="1"/>
          </p:cNvSpPr>
          <p:nvPr>
            <p:ph idx="1"/>
          </p:nvPr>
        </p:nvSpPr>
        <p:spPr/>
        <p:txBody>
          <a:bodyPr>
            <a:normAutofit fontScale="62500" lnSpcReduction="20000"/>
          </a:bodyPr>
          <a:lstStyle/>
          <a:p>
            <a:pPr lvl="0"/>
            <a:r>
              <a:rPr b="1"/>
              <a:t>텍스트 기반 다이어그램:</a:t>
            </a:r>
            <a:r>
              <a:t> 코드를 작성하듯 순서도, 시퀀스 다이어그램 등을 생성하는 라이브러리</a:t>
            </a:r>
          </a:p>
          <a:p>
            <a:pPr lvl="0"/>
            <a:r>
              <a:rPr b="1"/>
              <a:t>Marp와의 통합:</a:t>
            </a:r>
            <a:r>
              <a:t> Marp는 Mermaid 문법을 자동으로 인식하여 다이어그램 이미지로 변환함</a:t>
            </a:r>
          </a:p>
          <a:p>
            <a:pPr lvl="0"/>
            <a:r>
              <a:rPr b="1"/>
              <a:t>간단한 사용법:</a:t>
            </a:r>
            <a:r>
              <a:t> </a:t>
            </a:r>
            <a:r>
              <a:rPr>
                <a:latin typeface="Courier"/>
              </a:rPr>
              <a:t>&lt;div class="mermaid"&gt;</a:t>
            </a:r>
            <a:r>
              <a:t> 태그로 Mermaid 코드를 감싸 슬라이드에 추가함</a:t>
            </a:r>
          </a:p>
          <a:p>
            <a:pPr lvl="0"/>
            <a:r>
              <a:rPr b="1"/>
              <a:t>복잡한 개념 시각화:</a:t>
            </a:r>
            <a:r>
              <a:t> 코드의 흐름이나 시스템 아키텍처를 설명할 때 매우 유용함</a:t>
            </a:r>
          </a:p>
          <a:p>
            <a:pPr lvl="0"/>
            <a:r>
              <a:rPr b="1"/>
              <a:t>스타일 커스터마이징:</a:t>
            </a:r>
            <a:r>
              <a:t> CSS를 통해 다이어그램의 크기, 색상, 폰트 등을 자유롭게 변경 가능</a:t>
            </a:r>
          </a:p>
          <a:p>
            <a:pPr marL="0" lvl="0" indent="0">
              <a:buNone/>
            </a:pPr>
            <a:r>
              <a:t> </a:t>
            </a:r>
            <a:r>
              <a:rPr b="1"/>
              <a:t>[실무 예시: 간단한 순서도]</a:t>
            </a:r>
          </a:p>
          <a:p>
            <a:pPr lvl="0" indent="0">
              <a:buNone/>
            </a:pPr>
            <a:r>
              <a:rPr>
                <a:solidFill>
                  <a:srgbClr val="902000"/>
                </a:solidFill>
                <a:latin typeface="Courier"/>
              </a:rPr>
              <a:t>&lt;</a:t>
            </a:r>
            <a:r>
              <a:rPr b="1">
                <a:solidFill>
                  <a:srgbClr val="007020"/>
                </a:solidFill>
                <a:latin typeface="Courier"/>
              </a:rPr>
              <a:t>div</a:t>
            </a:r>
            <a:r>
              <a:rPr>
                <a:solidFill>
                  <a:srgbClr val="007020"/>
                </a:solidFill>
                <a:latin typeface="Courier"/>
              </a:rPr>
              <a:t> class</a:t>
            </a:r>
            <a:r>
              <a:rPr>
                <a:solidFill>
                  <a:srgbClr val="666666"/>
                </a:solidFill>
                <a:latin typeface="Courier"/>
              </a:rPr>
              <a:t>=</a:t>
            </a:r>
            <a:r>
              <a:rPr>
                <a:solidFill>
                  <a:srgbClr val="4070A0"/>
                </a:solidFill>
                <a:latin typeface="Courier"/>
              </a:rPr>
              <a:t>"mermaid"</a:t>
            </a:r>
            <a:r>
              <a:rPr>
                <a:solidFill>
                  <a:srgbClr val="902000"/>
                </a:solidFill>
                <a:latin typeface="Courier"/>
              </a:rPr>
              <a:t>&gt;</a:t>
            </a:r>
            <a:br/>
            <a:r>
              <a:rPr>
                <a:latin typeface="Courier"/>
              </a:rPr>
              <a:t>graph TD;</a:t>
            </a:r>
            <a:br/>
            <a:r>
              <a:rPr>
                <a:latin typeface="Courier"/>
              </a:rPr>
              <a:t>    A[사용자 입력] --&gt; B{데이터 처리};</a:t>
            </a:r>
            <a:br/>
            <a:r>
              <a:rPr>
                <a:latin typeface="Courier"/>
              </a:rPr>
              <a:t>    B --&gt; C[결과 출력];</a:t>
            </a:r>
            <a:br/>
            <a:r>
              <a:rPr>
                <a:latin typeface="Courier"/>
              </a:rPr>
              <a:t>    B --&gt; D[오류 처리];</a:t>
            </a:r>
            <a:br/>
            <a:r>
              <a:rPr>
                <a:solidFill>
                  <a:srgbClr val="902000"/>
                </a:solidFill>
                <a:latin typeface="Courier"/>
              </a:rPr>
              <a:t>&lt;/</a:t>
            </a:r>
            <a:r>
              <a:rPr b="1">
                <a:solidFill>
                  <a:srgbClr val="007020"/>
                </a:solidFill>
                <a:latin typeface="Courier"/>
              </a:rPr>
              <a:t>div</a:t>
            </a:r>
            <a:r>
              <a:rPr>
                <a:solidFill>
                  <a:srgbClr val="902000"/>
                </a:solidFill>
                <a:latin typeface="Courier"/>
              </a:rPr>
              <a:t>&gt;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Reveal.js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강력한 HTML 프레젠테이션 프레임워크</a:t>
            </a:r>
          </a:p>
        </p:txBody>
      </p:sp>
      <p:sp>
        <p:nvSpPr>
          <p:cNvPr id="3" name="Content Placeholder 2"/>
          <p:cNvSpPr>
            <a:spLocks noGrp="1"/>
          </p:cNvSpPr>
          <p:nvPr>
            <p:ph idx="1"/>
          </p:nvPr>
        </p:nvSpPr>
        <p:spPr/>
        <p:txBody>
          <a:bodyPr>
            <a:normAutofit fontScale="25000" lnSpcReduction="20000"/>
          </a:bodyPr>
          <a:lstStyle/>
          <a:p>
            <a:pPr lvl="0"/>
            <a:r>
              <a:rPr b="1"/>
              <a:t>HTML 기반 프레임워크:</a:t>
            </a:r>
            <a:r>
              <a:t> 웹 기술을 최대한 활용하여 동적이고 인터랙티브한 슬라이드 제작</a:t>
            </a:r>
          </a:p>
          <a:p>
            <a:pPr lvl="0"/>
            <a:r>
              <a:rPr b="1"/>
              <a:t>2D 슬라이드 구조:</a:t>
            </a:r>
            <a:r>
              <a:t> 좌우(수평) 이동뿐만 아니라 상하(수직) 이동이 가능한 입체적 구조 지원</a:t>
            </a:r>
          </a:p>
          <a:p>
            <a:pPr lvl="0"/>
            <a:r>
              <a:rPr b="1"/>
              <a:t>풍부한 기능:</a:t>
            </a:r>
            <a:r>
              <a:t> 다양한 테마, 전환 효과, 코드 하이라이팅, 플러그인 생태계 보유</a:t>
            </a:r>
          </a:p>
          <a:p>
            <a:pPr lvl="0"/>
            <a:r>
              <a:rPr b="1"/>
              <a:t>Pandoc 연동:</a:t>
            </a:r>
            <a:r>
              <a:t> </a:t>
            </a:r>
            <a:r>
              <a:rPr>
                <a:latin typeface="Courier"/>
              </a:rPr>
              <a:t>pandoc -t revealjs</a:t>
            </a:r>
            <a:r>
              <a:t> 명령어로 마크다운을 Reveal.js 슬라이드로 쉽게 변환</a:t>
            </a:r>
          </a:p>
          <a:p>
            <a:pPr lvl="0"/>
            <a:r>
              <a:rPr b="1"/>
              <a:t>고급 커스터마이징:</a:t>
            </a:r>
            <a:r>
              <a:t> HTML 주석을 이용해 슬라이드별 배경, 전환 효과 등 세부 속성 제어</a:t>
            </a:r>
          </a:p>
          <a:p>
            <a:pPr lvl="0" indent="0">
              <a:buNone/>
            </a:pPr>
            <a:r>
              <a:rPr>
                <a:latin typeface="Courier"/>
              </a:rPr>
              <a:t>&lt;2D 슬라이드 구조 인포그래픽&gt;
[ 1.1 ] &lt;-&gt; [ 1.2 ] &lt;-&gt; [ 1.3 ]
             ^
             |
             v
           [ 2.2 ]
             ^
             |
             v
           [ 3.2 ]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Reveal.js와 Pandoc 연동</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마크다운으로 Reveal.js 슬라이드 만들기</a:t>
            </a:r>
          </a:p>
        </p:txBody>
      </p:sp>
      <p:graphicFrame>
        <p:nvGraphicFramePr>
          <p:cNvPr id="6" name="Content Placeholder 5"/>
          <p:cNvGraphicFramePr>
            <a:graphicFrameLocks noGrp="1"/>
          </p:cNvGraphicFramePr>
          <p:nvPr>
            <p:ph idx="1"/>
          </p:nvPr>
        </p:nvGraphicFramePr>
        <p:xfrm>
          <a:off x="3568700" y="203200"/>
          <a:ext cx="5105400" cy="2811780"/>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0">
                <a:tc>
                  <a:txBody>
                    <a:bodyPr/>
                    <a:lstStyle/>
                    <a:p>
                      <a:pPr marL="0" lvl="0" indent="0" algn="l">
                        <a:buNone/>
                      </a:pPr>
                      <a:r>
                        <a:t>Pandoc 옵션</a:t>
                      </a:r>
                    </a:p>
                  </a:txBody>
                  <a:tcPr/>
                </a:tc>
                <a:tc>
                  <a:txBody>
                    <a:bodyPr/>
                    <a:lstStyle/>
                    <a:p>
                      <a:pPr marL="0" lvl="0" indent="0" algn="l">
                        <a:buNone/>
                      </a:pPr>
                      <a:r>
                        <a:t>설명</a:t>
                      </a:r>
                    </a:p>
                  </a:txBody>
                  <a:tcPr/>
                </a:tc>
                <a:tc>
                  <a:txBody>
                    <a:bodyPr/>
                    <a:lstStyle/>
                    <a:p>
                      <a:pPr marL="0" lvl="0" indent="0" algn="l">
                        <a:buNone/>
                      </a:pPr>
                      <a:r>
                        <a:t>예시 값</a:t>
                      </a:r>
                    </a:p>
                  </a:txBody>
                  <a:tcPr/>
                </a:tc>
                <a:extLst>
                  <a:ext uri="{0D108BD9-81ED-4DB2-BD59-A6C34878D82A}">
                    <a16:rowId xmlns:a16="http://schemas.microsoft.com/office/drawing/2014/main" val="10000"/>
                  </a:ext>
                </a:extLst>
              </a:tr>
              <a:tr h="0">
                <a:tc>
                  <a:txBody>
                    <a:bodyPr/>
                    <a:lstStyle/>
                    <a:p>
                      <a:pPr marL="0" lvl="0" indent="0" algn="l">
                        <a:buNone/>
                      </a:pPr>
                      <a:r>
                        <a:rPr>
                          <a:latin typeface="Courier"/>
                        </a:rPr>
                        <a:t>-t revealjs</a:t>
                      </a:r>
                    </a:p>
                  </a:txBody>
                  <a:tcPr/>
                </a:tc>
                <a:tc>
                  <a:txBody>
                    <a:bodyPr/>
                    <a:lstStyle/>
                    <a:p>
                      <a:pPr marL="0" lvl="0" indent="0" algn="l">
                        <a:buNone/>
                      </a:pPr>
                      <a:r>
                        <a:t>출력 포맷을 Reveal.js로 지정함</a:t>
                      </a:r>
                    </a:p>
                  </a:txBody>
                  <a:tcPr/>
                </a:tc>
                <a:tc>
                  <a:txBody>
                    <a:bodyPr/>
                    <a:lstStyle/>
                    <a:p>
                      <a:pPr marL="0" lvl="0" indent="0" algn="l">
                        <a:buNone/>
                      </a:pPr>
                      <a:r>
                        <a:t>-</a:t>
                      </a:r>
                    </a:p>
                  </a:txBody>
                  <a:tcPr/>
                </a:tc>
                <a:extLst>
                  <a:ext uri="{0D108BD9-81ED-4DB2-BD59-A6C34878D82A}">
                    <a16:rowId xmlns:a16="http://schemas.microsoft.com/office/drawing/2014/main" val="10001"/>
                  </a:ext>
                </a:extLst>
              </a:tr>
              <a:tr h="0">
                <a:tc>
                  <a:txBody>
                    <a:bodyPr/>
                    <a:lstStyle/>
                    <a:p>
                      <a:pPr marL="0" lvl="0" indent="0" algn="l">
                        <a:buNone/>
                      </a:pPr>
                      <a:r>
                        <a:rPr>
                          <a:latin typeface="Courier"/>
                        </a:rPr>
                        <a:t>-V theme</a:t>
                      </a:r>
                    </a:p>
                  </a:txBody>
                  <a:tcPr/>
                </a:tc>
                <a:tc>
                  <a:txBody>
                    <a:bodyPr/>
                    <a:lstStyle/>
                    <a:p>
                      <a:pPr marL="0" lvl="0" indent="0" algn="l">
                        <a:buNone/>
                      </a:pPr>
                      <a:r>
                        <a:t>슬라이드 테마를 설정함</a:t>
                      </a:r>
                    </a:p>
                  </a:txBody>
                  <a:tcPr/>
                </a:tc>
                <a:tc>
                  <a:txBody>
                    <a:bodyPr/>
                    <a:lstStyle/>
                    <a:p>
                      <a:pPr marL="0" lvl="0" indent="0" algn="l">
                        <a:buNone/>
                      </a:pPr>
                      <a:r>
                        <a:rPr>
                          <a:latin typeface="Courier"/>
                        </a:rPr>
                        <a:t>sky</a:t>
                      </a:r>
                      <a:r>
                        <a:t>, </a:t>
                      </a:r>
                      <a:r>
                        <a:rPr>
                          <a:latin typeface="Courier"/>
                        </a:rPr>
                        <a:t>moon</a:t>
                      </a:r>
                      <a:r>
                        <a:t>, </a:t>
                      </a:r>
                      <a:r>
                        <a:rPr>
                          <a:latin typeface="Courier"/>
                        </a:rPr>
                        <a:t>serif</a:t>
                      </a:r>
                    </a:p>
                  </a:txBody>
                  <a:tcPr/>
                </a:tc>
                <a:extLst>
                  <a:ext uri="{0D108BD9-81ED-4DB2-BD59-A6C34878D82A}">
                    <a16:rowId xmlns:a16="http://schemas.microsoft.com/office/drawing/2014/main" val="10002"/>
                  </a:ext>
                </a:extLst>
              </a:tr>
              <a:tr h="0">
                <a:tc>
                  <a:txBody>
                    <a:bodyPr/>
                    <a:lstStyle/>
                    <a:p>
                      <a:pPr marL="0" lvl="0" indent="0" algn="l">
                        <a:buNone/>
                      </a:pPr>
                      <a:r>
                        <a:rPr>
                          <a:latin typeface="Courier"/>
                        </a:rPr>
                        <a:t>-V transition</a:t>
                      </a:r>
                    </a:p>
                  </a:txBody>
                  <a:tcPr/>
                </a:tc>
                <a:tc>
                  <a:txBody>
                    <a:bodyPr/>
                    <a:lstStyle/>
                    <a:p>
                      <a:pPr marL="0" lvl="0" indent="0" algn="l">
                        <a:buNone/>
                      </a:pPr>
                      <a:r>
                        <a:t>전환 효과를 설정함</a:t>
                      </a:r>
                    </a:p>
                  </a:txBody>
                  <a:tcPr/>
                </a:tc>
                <a:tc>
                  <a:txBody>
                    <a:bodyPr/>
                    <a:lstStyle/>
                    <a:p>
                      <a:pPr marL="0" lvl="0" indent="0" algn="l">
                        <a:buNone/>
                      </a:pPr>
                      <a:r>
                        <a:rPr>
                          <a:latin typeface="Courier"/>
                        </a:rPr>
                        <a:t>zoom</a:t>
                      </a:r>
                      <a:r>
                        <a:t>, </a:t>
                      </a:r>
                      <a:r>
                        <a:rPr>
                          <a:latin typeface="Courier"/>
                        </a:rPr>
                        <a:t>fade</a:t>
                      </a:r>
                      <a:r>
                        <a:t>, </a:t>
                      </a:r>
                      <a:r>
                        <a:rPr>
                          <a:latin typeface="Courier"/>
                        </a:rPr>
                        <a:t>convex</a:t>
                      </a:r>
                    </a:p>
                  </a:txBody>
                  <a:tcPr/>
                </a:tc>
                <a:extLst>
                  <a:ext uri="{0D108BD9-81ED-4DB2-BD59-A6C34878D82A}">
                    <a16:rowId xmlns:a16="http://schemas.microsoft.com/office/drawing/2014/main" val="10003"/>
                  </a:ext>
                </a:extLst>
              </a:tr>
              <a:tr h="0">
                <a:tc>
                  <a:txBody>
                    <a:bodyPr/>
                    <a:lstStyle/>
                    <a:p>
                      <a:pPr marL="0" lvl="0" indent="0" algn="l">
                        <a:buNone/>
                      </a:pPr>
                      <a:r>
                        <a:rPr>
                          <a:latin typeface="Courier"/>
                        </a:rPr>
                        <a:t>--slide-level</a:t>
                      </a:r>
                    </a:p>
                  </a:txBody>
                  <a:tcPr/>
                </a:tc>
                <a:tc>
                  <a:txBody>
                    <a:bodyPr/>
                    <a:lstStyle/>
                    <a:p>
                      <a:pPr marL="0" lvl="0" indent="0" algn="l">
                        <a:buNone/>
                      </a:pPr>
                      <a:r>
                        <a:t>슬라이드 계층 구조를 결정함</a:t>
                      </a:r>
                    </a:p>
                  </a:txBody>
                  <a:tcPr/>
                </a:tc>
                <a:tc>
                  <a:txBody>
                    <a:bodyPr/>
                    <a:lstStyle/>
                    <a:p>
                      <a:pPr marL="0" lvl="0" indent="0" algn="l">
                        <a:buNone/>
                      </a:pPr>
                      <a:r>
                        <a:rPr>
                          <a:latin typeface="Courier"/>
                        </a:rPr>
                        <a:t>2</a:t>
                      </a:r>
                      <a:r>
                        <a:t> (H1 수평, H2 수직)</a:t>
                      </a:r>
                    </a:p>
                  </a:txBody>
                  <a:tcPr/>
                </a:tc>
                <a:extLst>
                  <a:ext uri="{0D108BD9-81ED-4DB2-BD59-A6C34878D82A}">
                    <a16:rowId xmlns:a16="http://schemas.microsoft.com/office/drawing/2014/main" val="10004"/>
                  </a:ext>
                </a:extLst>
              </a:tr>
              <a:tr h="0">
                <a:tc>
                  <a:txBody>
                    <a:bodyPr/>
                    <a:lstStyle/>
                    <a:p>
                      <a:pPr marL="0" lvl="0" indent="0" algn="l">
                        <a:buNone/>
                      </a:pPr>
                      <a:r>
                        <a:rPr>
                          <a:latin typeface="Courier"/>
                        </a:rPr>
                        <a:t>--self-contained</a:t>
                      </a:r>
                    </a:p>
                  </a:txBody>
                  <a:tcPr/>
                </a:tc>
                <a:tc>
                  <a:txBody>
                    <a:bodyPr/>
                    <a:lstStyle/>
                    <a:p>
                      <a:pPr marL="0" lvl="0" indent="0" algn="l">
                        <a:buNone/>
                      </a:pPr>
                      <a:r>
                        <a:t>모든 리소스를 단일 파일에 포함</a:t>
                      </a:r>
                    </a:p>
                  </a:txBody>
                  <a:tcPr/>
                </a:tc>
                <a:tc>
                  <a:txBody>
                    <a:bodyPr/>
                    <a:lstStyle/>
                    <a:p>
                      <a:pPr marL="0" lvl="0" indent="0" algn="l">
                        <a:buNone/>
                      </a:pPr>
                      <a:r>
                        <a:t>-</a:t>
                      </a:r>
                    </a:p>
                  </a:txBody>
                  <a:tcPr/>
                </a:tc>
                <a:extLst>
                  <a:ext uri="{0D108BD9-81ED-4DB2-BD59-A6C34878D82A}">
                    <a16:rowId xmlns:a16="http://schemas.microsoft.com/office/drawing/2014/main" val="10005"/>
                  </a:ext>
                </a:extLst>
              </a:tr>
            </a:tbl>
          </a:graphicData>
        </a:graphic>
      </p:graphicFrame>
      <p:sp>
        <p:nvSpPr>
          <p:cNvPr id="4" name="Text Placeholder 3"/>
          <p:cNvSpPr>
            <a:spLocks noGrp="1"/>
          </p:cNvSpPr>
          <p:nvPr>
            <p:ph type="body" sz="half" idx="2"/>
          </p:nvPr>
        </p:nvSpPr>
        <p:spPr/>
        <p:txBody>
          <a:bodyPr>
            <a:normAutofit fontScale="55000" lnSpcReduction="20000"/>
          </a:bodyPr>
          <a:lstStyle/>
          <a:p>
            <a:pPr lvl="0"/>
            <a:r>
              <a:rPr b="1"/>
              <a:t>변환 명령어:</a:t>
            </a:r>
            <a:r>
              <a:t> </a:t>
            </a:r>
            <a:r>
              <a:rPr>
                <a:latin typeface="Courier"/>
              </a:rPr>
              <a:t>pandoc -t revealjs -s -o slides.html slides.md</a:t>
            </a:r>
            <a:r>
              <a:t> 형식으로 변환</a:t>
            </a:r>
          </a:p>
          <a:p>
            <a:pPr lvl="0"/>
            <a:r>
              <a:rPr b="1"/>
              <a:t>테마 적용:</a:t>
            </a:r>
            <a:r>
              <a:t> </a:t>
            </a:r>
            <a:r>
              <a:rPr>
                <a:latin typeface="Courier"/>
              </a:rPr>
              <a:t>-V theme=sky</a:t>
            </a:r>
            <a:r>
              <a:t>처럼 </a:t>
            </a:r>
            <a:r>
              <a:rPr>
                <a:latin typeface="Courier"/>
              </a:rPr>
              <a:t>-V</a:t>
            </a:r>
            <a:r>
              <a:t> 옵션을 사용하여 내장된 테마(black, white, sky 등)를 적용</a:t>
            </a:r>
          </a:p>
          <a:p>
            <a:pPr lvl="0"/>
            <a:r>
              <a:rPr b="1"/>
              <a:t>전환 효과:</a:t>
            </a:r>
            <a:r>
              <a:t> </a:t>
            </a:r>
            <a:r>
              <a:rPr>
                <a:latin typeface="Courier"/>
              </a:rPr>
              <a:t>-V transition=zoom</a:t>
            </a:r>
            <a:r>
              <a:t> 옵션으로 슬라이드 전환 효과(fade, slide, zoom 등)를 설정</a:t>
            </a:r>
          </a:p>
          <a:p>
            <a:pPr lvl="0"/>
            <a:r>
              <a:rPr b="1"/>
              <a:t>외부 리소스 연결:</a:t>
            </a:r>
            <a:r>
              <a:t> 기본적으로 웹(CDN)에 있는 Reveal.js 파일을 연결하여 사용함</a:t>
            </a:r>
          </a:p>
          <a:p>
            <a:pPr lvl="0"/>
            <a:r>
              <a:rPr b="1"/>
              <a:t>슬라이드 레벨 지정:</a:t>
            </a:r>
            <a:r>
              <a:t> </a:t>
            </a:r>
            <a:r>
              <a:rPr>
                <a:latin typeface="Courier"/>
              </a:rPr>
              <a:t>--slide-level=2</a:t>
            </a:r>
            <a:r>
              <a:t> 옵션으로 H1을 수평, H2를 수직 슬라이드로 지정</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핵심 기능: 발표자 노트</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청중에게는 보이지 않는 나만의 대본</a:t>
            </a:r>
          </a:p>
        </p:txBody>
      </p:sp>
      <p:graphicFrame>
        <p:nvGraphicFramePr>
          <p:cNvPr id="6" name="Content Placeholder 5"/>
          <p:cNvGraphicFramePr>
            <a:graphicFrameLocks noGrp="1"/>
          </p:cNvGraphicFramePr>
          <p:nvPr>
            <p:ph idx="1"/>
          </p:nvPr>
        </p:nvGraphicFramePr>
        <p:xfrm>
          <a:off x="3568700" y="203200"/>
          <a:ext cx="5105400" cy="1394460"/>
        </p:xfrm>
        <a:graphic>
          <a:graphicData uri="http://schemas.openxmlformats.org/drawingml/2006/table">
            <a:tbl>
              <a:tblPr firstRow="1" bandRow="1">
                <a:tableStyleId>{5C22544A-7EE6-4342-B048-85BDC9FD1C3A}</a:tableStyleId>
              </a:tblPr>
              <a:tblGrid>
                <a:gridCol w="25527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tblGrid>
              <a:tr h="0">
                <a:tc>
                  <a:txBody>
                    <a:bodyPr/>
                    <a:lstStyle/>
                    <a:p>
                      <a:pPr marL="0" lvl="0" indent="0" algn="l">
                        <a:buNone/>
                      </a:pPr>
                      <a:r>
                        <a:t>도구</a:t>
                      </a:r>
                    </a:p>
                  </a:txBody>
                  <a:tcPr/>
                </a:tc>
                <a:tc>
                  <a:txBody>
                    <a:bodyPr/>
                    <a:lstStyle/>
                    <a:p>
                      <a:pPr marL="0" lvl="0" indent="0" algn="l">
                        <a:buNone/>
                      </a:pPr>
                      <a:r>
                        <a:t>발표자 노트 작성 문법</a:t>
                      </a:r>
                    </a:p>
                  </a:txBody>
                  <a:tcPr/>
                </a:tc>
                <a:extLst>
                  <a:ext uri="{0D108BD9-81ED-4DB2-BD59-A6C34878D82A}">
                    <a16:rowId xmlns:a16="http://schemas.microsoft.com/office/drawing/2014/main" val="10000"/>
                  </a:ext>
                </a:extLst>
              </a:tr>
              <a:tr h="0">
                <a:tc>
                  <a:txBody>
                    <a:bodyPr/>
                    <a:lstStyle/>
                    <a:p>
                      <a:pPr marL="0" lvl="0" indent="0" algn="l">
                        <a:buNone/>
                      </a:pPr>
                      <a:r>
                        <a:rPr b="1"/>
                        <a:t>Pandoc</a:t>
                      </a:r>
                    </a:p>
                  </a:txBody>
                  <a:tcPr/>
                </a:tc>
                <a:tc>
                  <a:txBody>
                    <a:bodyPr/>
                    <a:lstStyle/>
                    <a:p>
                      <a:pPr marL="0" lvl="0" indent="0" algn="l">
                        <a:buNone/>
                      </a:pPr>
                      <a:r>
                        <a:rPr>
                          <a:latin typeface="Courier"/>
                        </a:rPr>
                        <a:t>::: notes</a:t>
                      </a:r>
                      <a:r>
                        <a:t> … </a:t>
                      </a:r>
                      <a:r>
                        <a:rPr>
                          <a:latin typeface="Courier"/>
                        </a:rPr>
                        <a:t>:::</a:t>
                      </a:r>
                    </a:p>
                  </a:txBody>
                  <a:tcPr/>
                </a:tc>
                <a:extLst>
                  <a:ext uri="{0D108BD9-81ED-4DB2-BD59-A6C34878D82A}">
                    <a16:rowId xmlns:a16="http://schemas.microsoft.com/office/drawing/2014/main" val="10001"/>
                  </a:ext>
                </a:extLst>
              </a:tr>
              <a:tr h="0">
                <a:tc>
                  <a:txBody>
                    <a:bodyPr/>
                    <a:lstStyle/>
                    <a:p>
                      <a:pPr marL="0" lvl="0" indent="0" algn="l">
                        <a:buNone/>
                      </a:pPr>
                      <a:r>
                        <a:rPr b="1"/>
                        <a:t>Marp</a:t>
                      </a:r>
                    </a:p>
                  </a:txBody>
                  <a:tcPr/>
                </a:tc>
                <a:tc>
                  <a:txBody>
                    <a:bodyPr/>
                    <a:lstStyle/>
                    <a:p>
                      <a:pPr marL="0" lvl="0" indent="0" algn="l">
                        <a:buNone/>
                      </a:pPr>
                      <a:r>
                        <a:rPr>
                          <a:latin typeface="Courier"/>
                        </a:rPr>
                        <a:t>&lt;!-- ... --&gt;</a:t>
                      </a:r>
                      <a:r>
                        <a:t> (HTML 주석)</a:t>
                      </a:r>
                    </a:p>
                  </a:txBody>
                  <a:tcPr/>
                </a:tc>
                <a:extLst>
                  <a:ext uri="{0D108BD9-81ED-4DB2-BD59-A6C34878D82A}">
                    <a16:rowId xmlns:a16="http://schemas.microsoft.com/office/drawing/2014/main" val="10002"/>
                  </a:ext>
                </a:extLst>
              </a:tr>
              <a:tr h="0">
                <a:tc>
                  <a:txBody>
                    <a:bodyPr/>
                    <a:lstStyle/>
                    <a:p>
                      <a:pPr marL="0" lvl="0" indent="0" algn="l">
                        <a:buNone/>
                      </a:pPr>
                      <a:r>
                        <a:rPr b="1"/>
                        <a:t>Reveal.js</a:t>
                      </a:r>
                    </a:p>
                  </a:txBody>
                  <a:tcPr/>
                </a:tc>
                <a:tc>
                  <a:txBody>
                    <a:bodyPr/>
                    <a:lstStyle/>
                    <a:p>
                      <a:pPr marL="0" lvl="0" indent="0" algn="l">
                        <a:buNone/>
                      </a:pPr>
                      <a:r>
                        <a:rPr>
                          <a:latin typeface="Courier"/>
                        </a:rPr>
                        <a:t>&lt;aside class="notes"&gt;</a:t>
                      </a:r>
                      <a:r>
                        <a:t> … </a:t>
                      </a:r>
                      <a:r>
                        <a:rPr>
                          <a:latin typeface="Courier"/>
                        </a:rPr>
                        <a:t>&lt;/aside&gt;</a:t>
                      </a:r>
                    </a:p>
                  </a:txBody>
                  <a:tcPr/>
                </a:tc>
                <a:extLst>
                  <a:ext uri="{0D108BD9-81ED-4DB2-BD59-A6C34878D82A}">
                    <a16:rowId xmlns:a16="http://schemas.microsoft.com/office/drawing/2014/main" val="10003"/>
                  </a:ext>
                </a:extLst>
              </a:tr>
            </a:tbl>
          </a:graphicData>
        </a:graphic>
      </p:graphicFrame>
      <p:sp>
        <p:nvSpPr>
          <p:cNvPr id="4" name="Text Placeholder 3"/>
          <p:cNvSpPr>
            <a:spLocks noGrp="1"/>
          </p:cNvSpPr>
          <p:nvPr>
            <p:ph type="body" sz="half" idx="2"/>
          </p:nvPr>
        </p:nvSpPr>
        <p:spPr/>
        <p:txBody>
          <a:bodyPr>
            <a:normAutofit fontScale="55000" lnSpcReduction="20000"/>
          </a:bodyPr>
          <a:lstStyle/>
          <a:p>
            <a:pPr lvl="0"/>
            <a:r>
              <a:rPr b="1"/>
              <a:t>발표 지원:</a:t>
            </a:r>
            <a:r>
              <a:t> 슬라이드 내용 외에 발표자가 참고할 추가 정보나 대본을 기록하는 기능</a:t>
            </a:r>
          </a:p>
          <a:p>
            <a:pPr lvl="0"/>
            <a:r>
              <a:rPr b="1"/>
              <a:t>다양한 도구 지원:</a:t>
            </a:r>
            <a:r>
              <a:t> Pandoc, Marp, Reveal.js 모두 각자의 방식으로 발표자 노트를 지원함</a:t>
            </a:r>
          </a:p>
          <a:p>
            <a:pPr lvl="0"/>
            <a:r>
              <a:rPr b="1"/>
              <a:t>발표자 모드:</a:t>
            </a:r>
            <a:r>
              <a:t> 발표 시 별도의 창(또는 화면)에 현재 슬라이드, 다음 슬라이드, 노트가 함께 표시됨</a:t>
            </a:r>
          </a:p>
          <a:p>
            <a:pPr lvl="0"/>
            <a:r>
              <a:rPr b="1"/>
              <a:t>작성 편의성:</a:t>
            </a:r>
            <a:r>
              <a:t> 마크다운 문법을 사용하여 노트 내용을 구조적으로 작성할 수 있음</a:t>
            </a:r>
          </a:p>
          <a:p>
            <a:pPr lvl="0"/>
            <a:r>
              <a:rPr b="1"/>
              <a:t>자신감 향상:</a:t>
            </a:r>
            <a:r>
              <a:t> 발표 흐름을 놓치지 않도록 도와주어 안정적인 발표를 가능하게 함</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핵심 기능: 다단 레이아웃</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콘텐츠를 나란히 배치하기</a:t>
            </a:r>
          </a:p>
        </p:txBody>
      </p:sp>
      <p:sp>
        <p:nvSpPr>
          <p:cNvPr id="3" name="Content Placeholder 2"/>
          <p:cNvSpPr>
            <a:spLocks noGrp="1"/>
          </p:cNvSpPr>
          <p:nvPr>
            <p:ph idx="1"/>
          </p:nvPr>
        </p:nvSpPr>
        <p:spPr/>
        <p:txBody>
          <a:bodyPr>
            <a:normAutofit fontScale="55000" lnSpcReduction="20000"/>
          </a:bodyPr>
          <a:lstStyle/>
          <a:p>
            <a:pPr lvl="0"/>
            <a:r>
              <a:rPr b="1"/>
              <a:t>콘텐츠 병렬 배치:</a:t>
            </a:r>
            <a:r>
              <a:t> 이미지와 설명, 두 가지 코드 비교 등 내용을 나란히 보여줄 때 유용함</a:t>
            </a:r>
          </a:p>
          <a:p>
            <a:pPr lvl="0"/>
            <a:r>
              <a:rPr b="1"/>
              <a:t>가독성 향상:</a:t>
            </a:r>
            <a:r>
              <a:t> 관련 있는 정보를 한눈에 비교하며 볼 수 있어 이해도를 높임</a:t>
            </a:r>
          </a:p>
          <a:p>
            <a:pPr lvl="0"/>
            <a:r>
              <a:rPr b="1"/>
              <a:t>Fenced Divs 활용:</a:t>
            </a:r>
            <a:r>
              <a:t> Pandoc에서는 </a:t>
            </a:r>
            <a:r>
              <a:rPr>
                <a:latin typeface="Courier"/>
              </a:rPr>
              <a:t>:::</a:t>
            </a:r>
            <a:r>
              <a:t>로 감싼 블록을 사용해 컬럼 구조를 생성함</a:t>
            </a:r>
          </a:p>
          <a:p>
            <a:pPr lvl="0"/>
            <a:r>
              <a:rPr b="1"/>
              <a:t>클래스 지정:</a:t>
            </a:r>
            <a:r>
              <a:t> 바깥쪽 Div에는 </a:t>
            </a:r>
            <a:r>
              <a:rPr>
                <a:latin typeface="Courier"/>
              </a:rPr>
              <a:t>columns</a:t>
            </a:r>
            <a:r>
              <a:t> 클래스, 안쪽 Div들에는 </a:t>
            </a:r>
            <a:r>
              <a:rPr>
                <a:latin typeface="Courier"/>
              </a:rPr>
              <a:t>column</a:t>
            </a:r>
            <a:r>
              <a:t> 클래스를 지정함</a:t>
            </a:r>
          </a:p>
          <a:p>
            <a:pPr lvl="0"/>
            <a:r>
              <a:rPr b="1"/>
              <a:t>너비 조절:</a:t>
            </a:r>
            <a:r>
              <a:t> 각 </a:t>
            </a:r>
            <a:r>
              <a:rPr>
                <a:latin typeface="Courier"/>
              </a:rPr>
              <a:t>column</a:t>
            </a:r>
            <a:r>
              <a:t> Div에 </a:t>
            </a:r>
            <a:r>
              <a:rPr>
                <a:latin typeface="Courier"/>
              </a:rPr>
              <a:t>width="40%"</a:t>
            </a:r>
            <a:r>
              <a:t>와 같이 너비를 직접 지정하여 비율을 조절함</a:t>
            </a:r>
          </a:p>
          <a:p>
            <a:pPr marL="0" lvl="0" indent="0">
              <a:buNone/>
            </a:pPr>
            <a:r>
              <a:t> </a:t>
            </a:r>
            <a:r>
              <a:rPr b="1"/>
              <a:t>[실무 예시: 2단 컬럼 구조]</a:t>
            </a:r>
          </a:p>
          <a:p>
            <a:pPr lvl="0" indent="0">
              <a:buNone/>
            </a:pPr>
            <a:r>
              <a:rPr>
                <a:latin typeface="Courier"/>
              </a:rPr>
              <a:t>:::::::::::::: {.columns}</a:t>
            </a:r>
            <a:br/>
            <a:r>
              <a:rPr>
                <a:latin typeface="Courier"/>
              </a:rPr>
              <a:t>::: {.column width="40%"}</a:t>
            </a:r>
            <a:br/>
            <a:r>
              <a:rPr>
                <a:solidFill>
                  <a:srgbClr val="BB6688"/>
                </a:solidFill>
                <a:latin typeface="Courier"/>
              </a:rPr>
              <a:t>- </a:t>
            </a:r>
            <a:r>
              <a:rPr>
                <a:latin typeface="Courier"/>
              </a:rPr>
              <a:t>항목 1</a:t>
            </a:r>
            <a:br/>
            <a:r>
              <a:rPr>
                <a:solidFill>
                  <a:srgbClr val="BB6688"/>
                </a:solidFill>
                <a:latin typeface="Courier"/>
              </a:rPr>
              <a:t>- </a:t>
            </a:r>
            <a:r>
              <a:rPr>
                <a:latin typeface="Courier"/>
              </a:rPr>
              <a:t>항목 2</a:t>
            </a:r>
            <a:br/>
            <a:r>
              <a:rPr>
                <a:latin typeface="Courier"/>
              </a:rPr>
              <a:t>:::</a:t>
            </a:r>
            <a:br/>
            <a:r>
              <a:rPr>
                <a:latin typeface="Courier"/>
              </a:rPr>
              <a:t>::: {.column width="60%"}</a:t>
            </a:r>
            <a:br/>
            <a:r>
              <a:rPr b="1">
                <a:solidFill>
                  <a:srgbClr val="FF0000"/>
                </a:solidFill>
                <a:latin typeface="Courier"/>
              </a:rPr>
              <a:t>![이미지](image.png)</a:t>
            </a:r>
            <a:br/>
            <a:r>
              <a:rPr>
                <a:latin typeface="Courier"/>
              </a:rPr>
              <a:t>:::</a:t>
            </a:r>
            <a:br/>
            <a:r>
              <a:rPr>
                <a:latin typeface="Courier"/>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실무 워크플로우</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효율적인 슬라이드 제작 과정</a:t>
            </a:r>
          </a:p>
        </p:txBody>
      </p:sp>
      <p:sp>
        <p:nvSpPr>
          <p:cNvPr id="3" name="Content Placeholder 2"/>
          <p:cNvSpPr>
            <a:spLocks noGrp="1"/>
          </p:cNvSpPr>
          <p:nvPr>
            <p:ph idx="1"/>
          </p:nvPr>
        </p:nvSpPr>
        <p:spPr/>
        <p:txBody>
          <a:bodyPr>
            <a:normAutofit fontScale="77500" lnSpcReduction="20000"/>
          </a:bodyPr>
          <a:lstStyle/>
          <a:p>
            <a:pPr lvl="0"/>
            <a:r>
              <a:rPr b="1"/>
              <a:t>1단계 (내용 구상):</a:t>
            </a:r>
            <a:r>
              <a:t> 디자인 고민 없이 마크다운으로 발표의 구조와 핵심 내용부터 빠르게 작성함</a:t>
            </a:r>
          </a:p>
          <a:p>
            <a:pPr lvl="0"/>
            <a:r>
              <a:rPr b="1"/>
              <a:t>2단계 (도구 선택):</a:t>
            </a:r>
            <a:r>
              <a:t> 발표 목적과 환경에 맞춰 Pandoc, Marp 등 최적의 변환 도구를 선택함</a:t>
            </a:r>
          </a:p>
          <a:p>
            <a:pPr lvl="0"/>
            <a:r>
              <a:rPr b="1"/>
              <a:t>3단계 (1차 변환):</a:t>
            </a:r>
            <a:r>
              <a:t> 기본 옵션으로 슬라이드를 변환하여 전체적인 구조와 흐름을 먼저 확인함</a:t>
            </a:r>
          </a:p>
          <a:p>
            <a:pPr lvl="0"/>
            <a:r>
              <a:rPr b="1"/>
              <a:t>4단계 (스타일링):</a:t>
            </a:r>
            <a:r>
              <a:t> 내장 테마를 적용하거나, 간단한 CSS 수정을 통해 시각적 완성도를 높임</a:t>
            </a:r>
          </a:p>
          <a:p>
            <a:pPr lvl="0"/>
            <a:r>
              <a:rPr b="1"/>
              <a:t>5단계 (최종 검토):</a:t>
            </a:r>
            <a:r>
              <a:t> 발표자 노트를 추가하고, 내보내기(Export) 기능을 통해 최종 결과물을 생성함</a:t>
            </a:r>
          </a:p>
          <a:p>
            <a:pPr lvl="0" indent="0">
              <a:buNone/>
            </a:pPr>
            <a:r>
              <a:rPr>
                <a:latin typeface="Courier"/>
              </a:rPr>
              <a:t>&lt;작업 흐름 인포그래픽&gt;
[콘텐츠 작성 (MD)] -&gt; [도구 선택] -&gt; [기본 변환] -&gt; [테마/CSS 적용] -&gt; [최종 파일 생성]</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Q&amp;A 및 참고 자료</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더 알아보기</a:t>
            </a:r>
          </a:p>
        </p:txBody>
      </p:sp>
      <p:graphicFrame>
        <p:nvGraphicFramePr>
          <p:cNvPr id="6" name="Content Placeholder 5"/>
          <p:cNvGraphicFramePr>
            <a:graphicFrameLocks noGrp="1"/>
          </p:cNvGraphicFramePr>
          <p:nvPr>
            <p:ph idx="1"/>
          </p:nvPr>
        </p:nvGraphicFramePr>
        <p:xfrm>
          <a:off x="3568700" y="203200"/>
          <a:ext cx="5105400" cy="3840480"/>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0">
                <a:tc>
                  <a:txBody>
                    <a:bodyPr/>
                    <a:lstStyle/>
                    <a:p>
                      <a:pPr marL="0" lvl="0" indent="0" algn="l">
                        <a:buNone/>
                      </a:pPr>
                      <a:r>
                        <a:t>리소스</a:t>
                      </a:r>
                    </a:p>
                  </a:txBody>
                  <a:tcPr/>
                </a:tc>
                <a:tc>
                  <a:txBody>
                    <a:bodyPr/>
                    <a:lstStyle/>
                    <a:p>
                      <a:pPr marL="0" lvl="0" indent="0" algn="l">
                        <a:buNone/>
                      </a:pPr>
                      <a:r>
                        <a:t>링크</a:t>
                      </a:r>
                    </a:p>
                  </a:txBody>
                  <a:tcPr/>
                </a:tc>
                <a:tc>
                  <a:txBody>
                    <a:bodyPr/>
                    <a:lstStyle/>
                    <a:p>
                      <a:pPr marL="0" lvl="0" indent="0" algn="l">
                        <a:buNone/>
                      </a:pPr>
                      <a:r>
                        <a:t>설명</a:t>
                      </a:r>
                    </a:p>
                  </a:txBody>
                  <a:tcPr/>
                </a:tc>
                <a:extLst>
                  <a:ext uri="{0D108BD9-81ED-4DB2-BD59-A6C34878D82A}">
                    <a16:rowId xmlns:a16="http://schemas.microsoft.com/office/drawing/2014/main" val="10000"/>
                  </a:ext>
                </a:extLst>
              </a:tr>
              <a:tr h="0">
                <a:tc>
                  <a:txBody>
                    <a:bodyPr/>
                    <a:lstStyle/>
                    <a:p>
                      <a:pPr marL="0" lvl="0" indent="0" algn="l">
                        <a:buNone/>
                      </a:pPr>
                      <a:r>
                        <a:t>Pandoc 공식 문서</a:t>
                      </a:r>
                    </a:p>
                  </a:txBody>
                  <a:tcPr/>
                </a:tc>
                <a:tc>
                  <a:txBody>
                    <a:bodyPr/>
                    <a:lstStyle/>
                    <a:p>
                      <a:pPr marL="0" lvl="0" indent="0" algn="l">
                        <a:buNone/>
                      </a:pPr>
                      <a:r>
                        <a:t>https://pandoc.org</a:t>
                      </a:r>
                    </a:p>
                  </a:txBody>
                  <a:tcPr/>
                </a:tc>
                <a:tc>
                  <a:txBody>
                    <a:bodyPr/>
                    <a:lstStyle/>
                    <a:p>
                      <a:pPr marL="0" lvl="0" indent="0" algn="l">
                        <a:buNone/>
                      </a:pPr>
                      <a:r>
                        <a:t>가장 정확하고 방대한 정보를 제공하는 공식 사이트</a:t>
                      </a:r>
                    </a:p>
                  </a:txBody>
                  <a:tcPr/>
                </a:tc>
                <a:extLst>
                  <a:ext uri="{0D108BD9-81ED-4DB2-BD59-A6C34878D82A}">
                    <a16:rowId xmlns:a16="http://schemas.microsoft.com/office/drawing/2014/main" val="10001"/>
                  </a:ext>
                </a:extLst>
              </a:tr>
              <a:tr h="0">
                <a:tc>
                  <a:txBody>
                    <a:bodyPr/>
                    <a:lstStyle/>
                    <a:p>
                      <a:pPr marL="0" lvl="0" indent="0" algn="l">
                        <a:buNone/>
                      </a:pPr>
                      <a:r>
                        <a:t>Marp 공식 문서</a:t>
                      </a:r>
                    </a:p>
                  </a:txBody>
                  <a:tcPr/>
                </a:tc>
                <a:tc>
                  <a:txBody>
                    <a:bodyPr/>
                    <a:lstStyle/>
                    <a:p>
                      <a:pPr marL="0" lvl="0" indent="0" algn="l">
                        <a:buNone/>
                      </a:pPr>
                      <a:r>
                        <a:t>https://marp.app/</a:t>
                      </a:r>
                    </a:p>
                  </a:txBody>
                  <a:tcPr/>
                </a:tc>
                <a:tc>
                  <a:txBody>
                    <a:bodyPr/>
                    <a:lstStyle/>
                    <a:p>
                      <a:pPr marL="0" lvl="0" indent="0" algn="l">
                        <a:buNone/>
                      </a:pPr>
                      <a:r>
                        <a:t>Marp의 모든 기능과 사용법을 다루는 공식 사이트</a:t>
                      </a:r>
                    </a:p>
                  </a:txBody>
                  <a:tcPr/>
                </a:tc>
                <a:extLst>
                  <a:ext uri="{0D108BD9-81ED-4DB2-BD59-A6C34878D82A}">
                    <a16:rowId xmlns:a16="http://schemas.microsoft.com/office/drawing/2014/main" val="10002"/>
                  </a:ext>
                </a:extLst>
              </a:tr>
              <a:tr h="0">
                <a:tc>
                  <a:txBody>
                    <a:bodyPr/>
                    <a:lstStyle/>
                    <a:p>
                      <a:pPr marL="0" lvl="0" indent="0" algn="l">
                        <a:buNone/>
                      </a:pPr>
                      <a:r>
                        <a:t>Reveal.js 공식 사이트</a:t>
                      </a:r>
                    </a:p>
                  </a:txBody>
                  <a:tcPr/>
                </a:tc>
                <a:tc>
                  <a:txBody>
                    <a:bodyPr/>
                    <a:lstStyle/>
                    <a:p>
                      <a:pPr marL="0" lvl="0" indent="0" algn="l">
                        <a:buNone/>
                      </a:pPr>
                      <a:r>
                        <a:t>https://revealjs.com/</a:t>
                      </a:r>
                    </a:p>
                  </a:txBody>
                  <a:tcPr/>
                </a:tc>
                <a:tc>
                  <a:txBody>
                    <a:bodyPr/>
                    <a:lstStyle/>
                    <a:p>
                      <a:pPr marL="0" lvl="0" indent="0" algn="l">
                        <a:buNone/>
                      </a:pPr>
                      <a:r>
                        <a:t>Reveal.js의 기능, 테마, 플러그인 정보 제공</a:t>
                      </a:r>
                    </a:p>
                  </a:txBody>
                  <a:tcPr/>
                </a:tc>
                <a:extLst>
                  <a:ext uri="{0D108BD9-81ED-4DB2-BD59-A6C34878D82A}">
                    <a16:rowId xmlns:a16="http://schemas.microsoft.com/office/drawing/2014/main" val="10003"/>
                  </a:ext>
                </a:extLst>
              </a:tr>
              <a:tr h="0">
                <a:tc>
                  <a:txBody>
                    <a:bodyPr/>
                    <a:lstStyle/>
                    <a:p>
                      <a:pPr marL="0" lvl="0" indent="0" algn="l">
                        <a:buNone/>
                      </a:pPr>
                      <a:r>
                        <a:t>마크다운 가이드</a:t>
                      </a:r>
                    </a:p>
                  </a:txBody>
                  <a:tcPr/>
                </a:tc>
                <a:tc>
                  <a:txBody>
                    <a:bodyPr/>
                    <a:lstStyle/>
                    <a:p>
                      <a:pPr marL="0" lvl="0" indent="0" algn="l">
                        <a:buNone/>
                      </a:pPr>
                      <a:r>
                        <a:t>https://www.markdownguide.org</a:t>
                      </a:r>
                    </a:p>
                  </a:txBody>
                  <a:tcPr/>
                </a:tc>
                <a:tc>
                  <a:txBody>
                    <a:bodyPr/>
                    <a:lstStyle/>
                    <a:p>
                      <a:pPr marL="0" lvl="0" indent="0" algn="l">
                        <a:buNone/>
                      </a:pPr>
                      <a:r>
                        <a:t>마크다운 기본부터 확장 문법까지 다루는 종합 안내서</a:t>
                      </a:r>
                    </a:p>
                  </a:txBody>
                  <a:tcPr/>
                </a:tc>
                <a:extLst>
                  <a:ext uri="{0D108BD9-81ED-4DB2-BD59-A6C34878D82A}">
                    <a16:rowId xmlns:a16="http://schemas.microsoft.com/office/drawing/2014/main" val="10004"/>
                  </a:ext>
                </a:extLst>
              </a:tr>
              <a:tr h="0">
                <a:tc>
                  <a:txBody>
                    <a:bodyPr/>
                    <a:lstStyle/>
                    <a:p>
                      <a:pPr marL="0" lvl="0" indent="0" algn="l">
                        <a:buNone/>
                      </a:pPr>
                      <a:r>
                        <a:t>본 교육 자료</a:t>
                      </a:r>
                    </a:p>
                  </a:txBody>
                  <a:tcPr/>
                </a:tc>
                <a:tc>
                  <a:txBody>
                    <a:bodyPr/>
                    <a:lstStyle/>
                    <a:p>
                      <a:pPr marL="0" lvl="0" indent="0" algn="l">
                        <a:buNone/>
                      </a:pPr>
                      <a:r>
                        <a:t>[GitHub Repo Link]</a:t>
                      </a:r>
                    </a:p>
                  </a:txBody>
                  <a:tcPr/>
                </a:tc>
                <a:tc>
                  <a:txBody>
                    <a:bodyPr/>
                    <a:lstStyle/>
                    <a:p>
                      <a:pPr marL="0" lvl="0" indent="0" algn="l">
                        <a:buNone/>
                      </a:pPr>
                      <a:r>
                        <a:t>오늘 진행한 슬라이드의 원본 마크다운 파일</a:t>
                      </a:r>
                    </a:p>
                  </a:txBody>
                  <a:tcPr/>
                </a:tc>
                <a:extLst>
                  <a:ext uri="{0D108BD9-81ED-4DB2-BD59-A6C34878D82A}">
                    <a16:rowId xmlns:a16="http://schemas.microsoft.com/office/drawing/2014/main" val="10005"/>
                  </a:ext>
                </a:extLst>
              </a:tr>
            </a:tbl>
          </a:graphicData>
        </a:graphic>
      </p:graphicFrame>
      <p:sp>
        <p:nvSpPr>
          <p:cNvPr id="4" name="Text Placeholder 3"/>
          <p:cNvSpPr>
            <a:spLocks noGrp="1"/>
          </p:cNvSpPr>
          <p:nvPr>
            <p:ph type="body" sz="half" idx="2"/>
          </p:nvPr>
        </p:nvSpPr>
        <p:spPr/>
        <p:txBody>
          <a:bodyPr>
            <a:normAutofit fontScale="70000" lnSpcReduction="20000"/>
          </a:bodyPr>
          <a:lstStyle/>
          <a:p>
            <a:pPr lvl="0"/>
            <a:r>
              <a:rPr b="1"/>
              <a:t>궁금한 점이 있다면 무엇이든 질문해주시기 바랍니다.</a:t>
            </a:r>
          </a:p>
          <a:p>
            <a:pPr lvl="0"/>
            <a:r>
              <a:t>오늘 다룬 내용은 마크다운 프레젠테이션의 시작에 불과합니다.</a:t>
            </a:r>
          </a:p>
          <a:p>
            <a:pPr lvl="0"/>
            <a:r>
              <a:t>각 도구의 공식 문서를 탐색하며 더 많은 가능성을 발견할 수 있습니다.</a:t>
            </a:r>
          </a:p>
          <a:p>
            <a:pPr lvl="0"/>
            <a:r>
              <a:t>꾸준한 연습을 통해 자신만의 슬라이드 제작 노하우를 만들어 가시길 바랍니다.</a:t>
            </a:r>
          </a:p>
          <a:p>
            <a:pPr lvl="0"/>
            <a:r>
              <a:t>교육에 참여해주셔서 진심으로 감사합니다.</a:t>
            </a:r>
          </a:p>
        </p:txBody>
      </p:sp>
    </p:spTree>
  </p:cSld>
  <p:clrMapOvr>
    <a:masterClrMapping/>
  </p:clrMapOvr>
</p:sld>
</file>

<file path=ppt/theme/theme1.xml><?xml version="1.0" encoding="utf-8"?>
<a:theme xmlns:a="http://schemas.openxmlformats.org/drawingml/2006/main" name="갤러리">
  <a:themeElements>
    <a:clrScheme name="갤러리">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갤러리">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갤러리">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TotalTime>
  <Words>3947</Words>
  <Application>Microsoft Office PowerPoint</Application>
  <PresentationFormat>화면 슬라이드 쇼(16:9)</PresentationFormat>
  <Paragraphs>309</Paragraphs>
  <Slides>41</Slides>
  <Notes>20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41</vt:i4>
      </vt:variant>
    </vt:vector>
  </HeadingPairs>
  <TitlesOfParts>
    <vt:vector size="47" baseType="lpstr">
      <vt:lpstr>Courier</vt:lpstr>
      <vt:lpstr>맑은 고딕</vt:lpstr>
      <vt:lpstr>Arial</vt:lpstr>
      <vt:lpstr>Calibri</vt:lpstr>
      <vt:lpstr>Gill Sans MT</vt:lpstr>
      <vt:lpstr>갤러리</vt:lpstr>
      <vt:lpstr>실무 교육용 슬라이드: 마크다운 프레젠테이션</vt:lpstr>
      <vt:lpstr>마크다운 프레젠테이션</vt:lpstr>
      <vt:lpstr>텍스트로 만드는 효율적인 슬라이드 제작법</vt:lpstr>
      <vt:lpstr>왜 마크다운인가?</vt:lpstr>
      <vt:lpstr>마크다운 프레젠테이션의 장점</vt:lpstr>
      <vt:lpstr>핵심 원칙</vt:lpstr>
      <vt:lpstr>마크다운 슬라이드 작성의 기본 규칙</vt:lpstr>
      <vt:lpstr>필수 마크다운 문법</vt:lpstr>
      <vt:lpstr>슬라이드 제작을 위한 기본기</vt:lpstr>
      <vt:lpstr>주요 변환 도구</vt:lpstr>
      <vt:lpstr>마크다운을 슬라이드로 만드는 방법들</vt:lpstr>
      <vt:lpstr>Pandoc</vt:lpstr>
      <vt:lpstr>만능 문서 변환기</vt:lpstr>
      <vt:lpstr>Pandoc 변환 실습</vt:lpstr>
      <vt:lpstr>HTML 및 PowerPoint 슬라이드 만들기</vt:lpstr>
      <vt:lpstr>Pandoc PDF 제작</vt:lpstr>
      <vt:lpstr>LaTeX Beamer 연동</vt:lpstr>
      <vt:lpstr>Marp</vt:lpstr>
      <vt:lpstr>통합형 프레젠테이션 생태계</vt:lpstr>
      <vt:lpstr>Marp 기본 사용법</vt:lpstr>
      <vt:lpstr>첫 슬라이드 만들기</vt:lpstr>
      <vt:lpstr>Marp 테마와 스타일링</vt:lpstr>
      <vt:lpstr>슬라이드 디자인 맞춤 설정</vt:lpstr>
      <vt:lpstr>Marp 고급 스타일링</vt:lpstr>
      <vt:lpstr>슬라이드별 디자인 제어</vt:lpstr>
      <vt:lpstr>시각 자료 활용</vt:lpstr>
      <vt:lpstr>이미지와 배경 삽입</vt:lpstr>
      <vt:lpstr>시각 자료 활용</vt:lpstr>
      <vt:lpstr>Mermaid 다이어그램</vt:lpstr>
      <vt:lpstr>Reveal.js</vt:lpstr>
      <vt:lpstr>강력한 HTML 프레젠테이션 프레임워크</vt:lpstr>
      <vt:lpstr>Reveal.js와 Pandoc 연동</vt:lpstr>
      <vt:lpstr>마크다운으로 Reveal.js 슬라이드 만들기</vt:lpstr>
      <vt:lpstr>핵심 기능: 발표자 노트</vt:lpstr>
      <vt:lpstr>청중에게는 보이지 않는 나만의 대본</vt:lpstr>
      <vt:lpstr>핵심 기능: 다단 레이아웃</vt:lpstr>
      <vt:lpstr>콘텐츠를 나란히 배치하기</vt:lpstr>
      <vt:lpstr>실무 워크플로우</vt:lpstr>
      <vt:lpstr>효율적인 슬라이드 제작 과정</vt:lpstr>
      <vt:lpstr>Q&amp;A 및 참고 자료</vt:lpstr>
      <vt:lpstr>더 알아보기</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실무 교육용 슬라이드: 마크다운 프레젠테이션</dc:title>
  <dc:creator/>
  <cp:keywords/>
  <cp:lastModifiedBy>ADMIN</cp:lastModifiedBy>
  <cp:revision>2</cp:revision>
  <dcterms:created xsi:type="dcterms:W3CDTF">2025-09-24T07:14:08Z</dcterms:created>
  <dcterms:modified xsi:type="dcterms:W3CDTF">2025-09-24T07:25:00Z</dcterms:modified>
</cp:coreProperties>
</file>